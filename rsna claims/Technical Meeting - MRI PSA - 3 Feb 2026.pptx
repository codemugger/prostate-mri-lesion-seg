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538" r:id="rId3"/>
    <p:sldId id="509" r:id="rId4"/>
    <p:sldId id="510" r:id="rId5"/>
    <p:sldId id="539" r:id="rId6"/>
    <p:sldId id="540" r:id="rId7"/>
    <p:sldId id="542" r:id="rId8"/>
    <p:sldId id="258" r:id="rId9"/>
    <p:sldId id="261" r:id="rId10"/>
    <p:sldId id="262" r:id="rId11"/>
    <p:sldId id="541" r:id="rId12"/>
    <p:sldId id="543" r:id="rId13"/>
    <p:sldId id="544" r:id="rId14"/>
    <p:sldId id="266" r:id="rId15"/>
    <p:sldId id="268" r:id="rId16"/>
    <p:sldId id="269" r:id="rId17"/>
    <p:sldId id="270" r:id="rId18"/>
    <p:sldId id="2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215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7B1349-4351-4A3E-BE54-B9E82096C905}" v="1" dt="2024-02-21T21:30:47.9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83" autoAdjust="0"/>
    <p:restoredTop sz="78129" autoAdjust="0"/>
  </p:normalViewPr>
  <p:slideViewPr>
    <p:cSldViewPr snapToGrid="0">
      <p:cViewPr varScale="1">
        <p:scale>
          <a:sx n="74" d="100"/>
          <a:sy n="74" d="100"/>
        </p:scale>
        <p:origin x="9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a Tse Lert (SingHealth - SGH)" userId="b8be44af-36bc-4980-a8e3-ecd74a5d0f2e" providerId="ADAL" clId="{457B1349-4351-4A3E-BE54-B9E82096C905}"/>
    <pc:docChg chg="modSld modMainMaster">
      <pc:chgData name="Chua Tse Lert (SingHealth - SGH)" userId="b8be44af-36bc-4980-a8e3-ecd74a5d0f2e" providerId="ADAL" clId="{457B1349-4351-4A3E-BE54-B9E82096C905}" dt="2024-02-21T21:30:47.996" v="11"/>
      <pc:docMkLst>
        <pc:docMk/>
      </pc:docMkLst>
      <pc:sldChg chg="modSp mod">
        <pc:chgData name="Chua Tse Lert (SingHealth - SGH)" userId="b8be44af-36bc-4980-a8e3-ecd74a5d0f2e" providerId="ADAL" clId="{457B1349-4351-4A3E-BE54-B9E82096C905}" dt="2024-02-21T21:30:18.275" v="4" actId="20577"/>
        <pc:sldMkLst>
          <pc:docMk/>
          <pc:sldMk cId="1951292336" sldId="256"/>
        </pc:sldMkLst>
        <pc:spChg chg="mod">
          <ac:chgData name="Chua Tse Lert (SingHealth - SGH)" userId="b8be44af-36bc-4980-a8e3-ecd74a5d0f2e" providerId="ADAL" clId="{457B1349-4351-4A3E-BE54-B9E82096C905}" dt="2024-02-21T21:30:18.275" v="4" actId="20577"/>
          <ac:spMkLst>
            <pc:docMk/>
            <pc:sldMk cId="1951292336" sldId="256"/>
            <ac:spMk id="17" creationId="{612A2D7F-C5DC-DB57-48D4-F0358C057962}"/>
          </ac:spMkLst>
        </pc:spChg>
      </pc:sldChg>
      <pc:sldChg chg="modSp mod">
        <pc:chgData name="Chua Tse Lert (SingHealth - SGH)" userId="b8be44af-36bc-4980-a8e3-ecd74a5d0f2e" providerId="ADAL" clId="{457B1349-4351-4A3E-BE54-B9E82096C905}" dt="2024-02-21T21:30:25.727" v="7" actId="20577"/>
        <pc:sldMkLst>
          <pc:docMk/>
          <pc:sldMk cId="3998092250" sldId="258"/>
        </pc:sldMkLst>
        <pc:spChg chg="mod">
          <ac:chgData name="Chua Tse Lert (SingHealth - SGH)" userId="b8be44af-36bc-4980-a8e3-ecd74a5d0f2e" providerId="ADAL" clId="{457B1349-4351-4A3E-BE54-B9E82096C905}" dt="2024-02-21T21:30:25.727" v="7" actId="20577"/>
          <ac:spMkLst>
            <pc:docMk/>
            <pc:sldMk cId="3998092250" sldId="258"/>
            <ac:spMk id="5" creationId="{F5C7F2F5-8890-5649-E95D-3DFC8DB07341}"/>
          </ac:spMkLst>
        </pc:spChg>
      </pc:sldChg>
      <pc:sldChg chg="modSp mod">
        <pc:chgData name="Chua Tse Lert (SingHealth - SGH)" userId="b8be44af-36bc-4980-a8e3-ecd74a5d0f2e" providerId="ADAL" clId="{457B1349-4351-4A3E-BE54-B9E82096C905}" dt="2024-02-21T21:30:30.124" v="10" actId="20577"/>
        <pc:sldMkLst>
          <pc:docMk/>
          <pc:sldMk cId="4278358134" sldId="259"/>
        </pc:sldMkLst>
        <pc:spChg chg="mod">
          <ac:chgData name="Chua Tse Lert (SingHealth - SGH)" userId="b8be44af-36bc-4980-a8e3-ecd74a5d0f2e" providerId="ADAL" clId="{457B1349-4351-4A3E-BE54-B9E82096C905}" dt="2024-02-21T21:30:30.124" v="10" actId="20577"/>
          <ac:spMkLst>
            <pc:docMk/>
            <pc:sldMk cId="4278358134" sldId="259"/>
            <ac:spMk id="2" creationId="{804950FF-1C80-338E-C730-1C7CC8A0587E}"/>
          </ac:spMkLst>
        </pc:spChg>
      </pc:sldChg>
      <pc:sldMasterChg chg="modSldLayout">
        <pc:chgData name="Chua Tse Lert (SingHealth - SGH)" userId="b8be44af-36bc-4980-a8e3-ecd74a5d0f2e" providerId="ADAL" clId="{457B1349-4351-4A3E-BE54-B9E82096C905}" dt="2024-02-21T21:30:47.996" v="11"/>
        <pc:sldMasterMkLst>
          <pc:docMk/>
          <pc:sldMasterMk cId="1580259071" sldId="2147483648"/>
        </pc:sldMasterMkLst>
        <pc:sldLayoutChg chg="addSp modSp">
          <pc:chgData name="Chua Tse Lert (SingHealth - SGH)" userId="b8be44af-36bc-4980-a8e3-ecd74a5d0f2e" providerId="ADAL" clId="{457B1349-4351-4A3E-BE54-B9E82096C905}" dt="2024-02-21T21:30:47.996" v="11"/>
          <pc:sldLayoutMkLst>
            <pc:docMk/>
            <pc:sldMasterMk cId="1580259071" sldId="2147483648"/>
            <pc:sldLayoutMk cId="3626401991" sldId="2147483650"/>
          </pc:sldLayoutMkLst>
          <pc:spChg chg="add mod">
            <ac:chgData name="Chua Tse Lert (SingHealth - SGH)" userId="b8be44af-36bc-4980-a8e3-ecd74a5d0f2e" providerId="ADAL" clId="{457B1349-4351-4A3E-BE54-B9E82096C905}" dt="2024-02-21T21:30:47.996" v="11"/>
            <ac:spMkLst>
              <pc:docMk/>
              <pc:sldMasterMk cId="1580259071" sldId="2147483648"/>
              <pc:sldLayoutMk cId="3626401991" sldId="2147483650"/>
              <ac:spMk id="4" creationId="{5962774D-8990-88E8-D1FA-2E8C9F2CF59B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95B8E-2634-4371-BA7A-B6E5F8834543}" type="datetimeFigureOut">
              <a:rPr lang="en-SG" smtClean="0"/>
              <a:t>2/2/2026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3B6A5-BED4-4A96-9F1B-ECDA8F56D24E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7315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 set the context: SGH performs more than 1,700 prostate MRI exams annually, and about 42% of these proceed to MRI-guided targeted biopsy.</a:t>
            </a:r>
            <a:br>
              <a:rPr lang="en-US" dirty="0"/>
            </a:br>
            <a:r>
              <a:rPr lang="en-US" dirty="0"/>
              <a:t>- Today, the biopsy planning workflow is still highly manual — radiologists do </a:t>
            </a:r>
            <a:r>
              <a:rPr lang="en-US" b="1" dirty="0"/>
              <a:t>manual prostate and lesion contouring in vendor software</a:t>
            </a:r>
            <a:r>
              <a:rPr lang="en-US" dirty="0"/>
              <a:t>, which takes </a:t>
            </a:r>
            <a:r>
              <a:rPr lang="en-US" b="1" dirty="0"/>
              <a:t>~16 minutes per case</a:t>
            </a:r>
            <a:br>
              <a:rPr lang="en-US" b="1" dirty="0"/>
            </a:br>
            <a:r>
              <a:rPr lang="en-US" b="0" dirty="0"/>
              <a:t>- </a:t>
            </a:r>
            <a:r>
              <a:rPr lang="en-US" dirty="0"/>
              <a:t>On top of that, there are </a:t>
            </a:r>
            <a:r>
              <a:rPr lang="en-US" b="1" dirty="0"/>
              <a:t>multiple manual transfer steps</a:t>
            </a:r>
            <a:r>
              <a:rPr lang="en-US" dirty="0"/>
              <a:t>, which adds time burden and increases the </a:t>
            </a:r>
            <a:r>
              <a:rPr lang="en-US" b="1" dirty="0"/>
              <a:t>potential for human error</a:t>
            </a:r>
            <a:r>
              <a:rPr lang="en-US" dirty="0"/>
              <a:t> in multi-step preparation</a:t>
            </a:r>
            <a:br>
              <a:rPr lang="en-US" dirty="0"/>
            </a:br>
            <a:r>
              <a:rPr lang="en-US" dirty="0"/>
              <a:t>- So the opportunity is straightforward: build an </a:t>
            </a:r>
            <a:r>
              <a:rPr lang="en-US" b="1" dirty="0"/>
              <a:t>AI-assisted contouring workflow</a:t>
            </a:r>
            <a:r>
              <a:rPr lang="en-US" dirty="0"/>
              <a:t> that generates </a:t>
            </a:r>
            <a:r>
              <a:rPr lang="en-US" b="1" dirty="0"/>
              <a:t>DICOM-compliant segmentations</a:t>
            </a:r>
            <a:r>
              <a:rPr lang="en-US" dirty="0"/>
              <a:t> quickly, to improve efficiency while keeping radiologists in the loop for review and final responsibility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3B6A5-BED4-4A96-9F1B-ECDA8F56D24E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5920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-</a:t>
            </a:r>
            <a:r>
              <a:rPr lang="en-US" dirty="0"/>
              <a:t>the core aim is to </a:t>
            </a:r>
            <a:r>
              <a:rPr lang="en-US" b="1" dirty="0"/>
              <a:t>develop, integrate, and trial deploy</a:t>
            </a:r>
            <a:r>
              <a:rPr lang="en-US" dirty="0"/>
              <a:t> an </a:t>
            </a:r>
            <a:r>
              <a:rPr lang="en-US" b="1" dirty="0"/>
              <a:t>SGH-trained prostate segmentation assistant</a:t>
            </a:r>
            <a:r>
              <a:rPr lang="en-US" dirty="0"/>
              <a:t> for prostate </a:t>
            </a:r>
            <a:r>
              <a:rPr lang="en-US" dirty="0" err="1"/>
              <a:t>mpMRI</a:t>
            </a:r>
            <a:r>
              <a:rPr lang="en-US" dirty="0"/>
              <a:t> that </a:t>
            </a:r>
            <a:r>
              <a:rPr lang="en-US" b="1" dirty="0"/>
              <a:t>improves workflow efficiency</a:t>
            </a:r>
            <a:r>
              <a:rPr lang="en-US" dirty="0"/>
              <a:t>, while </a:t>
            </a:r>
            <a:r>
              <a:rPr lang="en-US" b="1" dirty="0"/>
              <a:t>preserving clinical quality through radiologist review</a:t>
            </a:r>
          </a:p>
          <a:p>
            <a:r>
              <a:rPr lang="en-US" b="1" dirty="0"/>
              <a:t>- </a:t>
            </a:r>
            <a:r>
              <a:rPr lang="en-US" dirty="0"/>
              <a:t>On the </a:t>
            </a:r>
            <a:r>
              <a:rPr lang="en-US" b="1" dirty="0"/>
              <a:t>primary goals</a:t>
            </a:r>
            <a:r>
              <a:rPr lang="en-US" dirty="0"/>
              <a:t>: we’re building an </a:t>
            </a:r>
            <a:r>
              <a:rPr lang="en-US" b="1" dirty="0"/>
              <a:t>AI-assisted contouring workflow</a:t>
            </a:r>
            <a:r>
              <a:rPr lang="en-US" dirty="0"/>
              <a:t> that generates </a:t>
            </a:r>
            <a:r>
              <a:rPr lang="en-US" b="1" dirty="0"/>
              <a:t>DICOM-compliant segmentation outputs (RTSTRUCT)</a:t>
            </a:r>
            <a:r>
              <a:rPr lang="en-US" dirty="0"/>
              <a:t>, with a stated success target to reduce contouring time </a:t>
            </a:r>
            <a:r>
              <a:rPr lang="en-US" b="1" dirty="0"/>
              <a:t>from ~16 minutes to ~5 minutes per case</a:t>
            </a:r>
            <a:r>
              <a:rPr lang="en-US" dirty="0"/>
              <a:t> under </a:t>
            </a:r>
            <a:r>
              <a:rPr lang="en-US" b="1" dirty="0"/>
              <a:t>radiologist oversight</a:t>
            </a:r>
            <a:r>
              <a:rPr lang="en-US" dirty="0"/>
              <a:t>.</a:t>
            </a:r>
            <a:br>
              <a:rPr lang="en-US" b="1" dirty="0"/>
            </a:br>
            <a:r>
              <a:rPr lang="en-US" b="1" dirty="0"/>
              <a:t>- </a:t>
            </a:r>
            <a:r>
              <a:rPr lang="en-US" dirty="0"/>
              <a:t>On the </a:t>
            </a:r>
            <a:r>
              <a:rPr lang="en-US" b="1" dirty="0"/>
              <a:t>model strategy</a:t>
            </a:r>
            <a:r>
              <a:rPr lang="en-US" dirty="0"/>
              <a:t>: we plan to train using </a:t>
            </a:r>
            <a:r>
              <a:rPr lang="en-US" b="1" dirty="0"/>
              <a:t>SGH historical prostate MRI data</a:t>
            </a:r>
            <a:r>
              <a:rPr lang="en-US" dirty="0"/>
              <a:t>, accelerating annotation by using an </a:t>
            </a:r>
            <a:r>
              <a:rPr lang="en-US" b="1" dirty="0"/>
              <a:t>available open-source model</a:t>
            </a:r>
            <a:r>
              <a:rPr lang="en-US" dirty="0"/>
              <a:t> to generate initial contours, then having radiologists refine them to curate the local dataset</a:t>
            </a:r>
            <a:br>
              <a:rPr lang="en-US" dirty="0"/>
            </a:br>
            <a:r>
              <a:rPr lang="en-US" dirty="0"/>
              <a:t>- On </a:t>
            </a:r>
            <a:r>
              <a:rPr lang="en-US" b="1" dirty="0"/>
              <a:t>integration goals</a:t>
            </a:r>
            <a:r>
              <a:rPr lang="en-US" dirty="0"/>
              <a:t>: the deployment path is through </a:t>
            </a:r>
            <a:r>
              <a:rPr lang="en-US" b="1" dirty="0"/>
              <a:t>RAPIER CARPL</a:t>
            </a:r>
            <a:r>
              <a:rPr lang="en-US" dirty="0"/>
              <a:t> into SGH clinical workflows, and the outputs must be </a:t>
            </a:r>
            <a:r>
              <a:rPr lang="en-US" b="1" dirty="0"/>
              <a:t>compatible with </a:t>
            </a:r>
            <a:r>
              <a:rPr lang="en-US" b="1" dirty="0" err="1"/>
              <a:t>Biobot’s</a:t>
            </a:r>
            <a:r>
              <a:rPr lang="en-US" b="1" dirty="0"/>
              <a:t> ecosystem</a:t>
            </a:r>
            <a:r>
              <a:rPr lang="en-US" dirty="0"/>
              <a:t> — specifically their </a:t>
            </a:r>
            <a:r>
              <a:rPr lang="en-US" b="1" dirty="0" err="1"/>
              <a:t>UroFusion</a:t>
            </a:r>
            <a:r>
              <a:rPr lang="en-US" dirty="0"/>
              <a:t> software and </a:t>
            </a:r>
            <a:r>
              <a:rPr lang="en-US" b="1" dirty="0"/>
              <a:t>Mona Lisa</a:t>
            </a:r>
            <a:r>
              <a:rPr lang="en-US" dirty="0"/>
              <a:t> targeted biopsy system.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3B6A5-BED4-4A96-9F1B-ECDA8F56D24E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247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- This is the end-to-end MONAI Deploy DAG we’re implementing: it ingests a prostate </a:t>
            </a:r>
            <a:r>
              <a:rPr lang="en-SG" dirty="0" err="1"/>
              <a:t>mpMRI</a:t>
            </a:r>
            <a:r>
              <a:rPr lang="en-SG" dirty="0"/>
              <a:t> DICOM study, then runs organ segmentation → lesion segmentation → PI-RADS classification → exports RTSTRUCT for downstream clinical use.</a:t>
            </a:r>
            <a:br>
              <a:rPr lang="en-SG" dirty="0"/>
            </a:br>
            <a:r>
              <a:rPr lang="en-SG" dirty="0"/>
              <a:t>- </a:t>
            </a:r>
            <a:r>
              <a:rPr lang="en-US" dirty="0"/>
              <a:t>On the left is data ingestion + series selection: the pipeline auto-selects T2, ADC, and HIGHB using curated regex rules on DICOM tags like Modality, </a:t>
            </a:r>
            <a:r>
              <a:rPr lang="en-US" dirty="0" err="1"/>
              <a:t>ImageType</a:t>
            </a:r>
            <a:r>
              <a:rPr lang="en-US" dirty="0"/>
              <a:t>, </a:t>
            </a:r>
            <a:r>
              <a:rPr lang="en-US" dirty="0" err="1"/>
              <a:t>SeriesDescription</a:t>
            </a:r>
            <a:br>
              <a:rPr lang="en-US" dirty="0"/>
            </a:br>
            <a:r>
              <a:rPr lang="en-US" dirty="0"/>
              <a:t>- For </a:t>
            </a:r>
            <a:r>
              <a:rPr lang="en-US" b="1" dirty="0"/>
              <a:t>organ segmentation</a:t>
            </a:r>
            <a:r>
              <a:rPr lang="en-US" dirty="0"/>
              <a:t>, we preprocess </a:t>
            </a:r>
            <a:r>
              <a:rPr lang="en-US" b="1" dirty="0"/>
              <a:t>T2 only</a:t>
            </a:r>
            <a:r>
              <a:rPr lang="en-US" dirty="0"/>
              <a:t> — reorient to </a:t>
            </a:r>
            <a:r>
              <a:rPr lang="en-US" b="1" dirty="0"/>
              <a:t>RAS</a:t>
            </a:r>
            <a:r>
              <a:rPr lang="en-US" dirty="0"/>
              <a:t>, resample to </a:t>
            </a:r>
            <a:r>
              <a:rPr lang="en-US" b="1" dirty="0"/>
              <a:t>1.0 mm isotropic</a:t>
            </a:r>
            <a:r>
              <a:rPr lang="en-US" dirty="0"/>
              <a:t>, then run </a:t>
            </a:r>
            <a:r>
              <a:rPr lang="en-US" b="1" dirty="0"/>
              <a:t>sliding-window inference</a:t>
            </a:r>
            <a:r>
              <a:rPr lang="en-US" dirty="0"/>
              <a:t> to produce a </a:t>
            </a:r>
            <a:r>
              <a:rPr lang="en-US" b="1" dirty="0"/>
              <a:t>multi-class prostate mask</a:t>
            </a:r>
            <a:r>
              <a:rPr lang="en-US" dirty="0"/>
              <a:t> (TZ/PZ)</a:t>
            </a:r>
            <a:br>
              <a:rPr lang="en-US" dirty="0"/>
            </a:br>
            <a:r>
              <a:rPr lang="en-US" dirty="0"/>
              <a:t>- That organ mask then constrains the </a:t>
            </a:r>
            <a:r>
              <a:rPr lang="en-US" b="1" dirty="0"/>
              <a:t>lesion stage</a:t>
            </a:r>
            <a:r>
              <a:rPr lang="en-US" dirty="0"/>
              <a:t>: ADC/HIGHB are aligned to T2 geometry, everything is resampled to </a:t>
            </a:r>
            <a:r>
              <a:rPr lang="en-US" b="1" dirty="0"/>
              <a:t>0.5 mm isotropic</a:t>
            </a:r>
            <a:r>
              <a:rPr lang="en-US" dirty="0"/>
              <a:t>, and we crop an ROI around the prostate with a </a:t>
            </a:r>
            <a:r>
              <a:rPr lang="en-US" b="1" dirty="0"/>
              <a:t>32-voxel margin</a:t>
            </a:r>
            <a:r>
              <a:rPr lang="en-US" dirty="0"/>
              <a:t> before running a </a:t>
            </a:r>
            <a:r>
              <a:rPr lang="en-US" b="1" dirty="0"/>
              <a:t>5-fold 3D RR-</a:t>
            </a:r>
            <a:r>
              <a:rPr lang="en-US" b="1" dirty="0" err="1"/>
              <a:t>UNet</a:t>
            </a:r>
            <a:r>
              <a:rPr lang="en-US" b="1" dirty="0"/>
              <a:t> ensemble</a:t>
            </a:r>
            <a:r>
              <a:rPr lang="en-US" dirty="0"/>
              <a:t> and applying a fixed threshold to get the final lesion mask</a:t>
            </a:r>
            <a:br>
              <a:rPr lang="en-US" dirty="0"/>
            </a:br>
            <a:r>
              <a:rPr lang="en-US" dirty="0"/>
              <a:t>- Finally, for </a:t>
            </a:r>
            <a:r>
              <a:rPr lang="en-US" b="1" dirty="0"/>
              <a:t>classification</a:t>
            </a:r>
            <a:r>
              <a:rPr lang="en-US" dirty="0"/>
              <a:t>, we extract </a:t>
            </a:r>
            <a:r>
              <a:rPr lang="en-US" b="1" dirty="0"/>
              <a:t>64×64×64 crops</a:t>
            </a:r>
            <a:r>
              <a:rPr lang="en-US" dirty="0"/>
              <a:t> around each lesion component and run a </a:t>
            </a:r>
            <a:r>
              <a:rPr lang="en-US" b="1" dirty="0"/>
              <a:t>3D </a:t>
            </a:r>
            <a:r>
              <a:rPr lang="en-US" b="1" dirty="0" err="1"/>
              <a:t>ResNet</a:t>
            </a:r>
            <a:r>
              <a:rPr lang="en-US" b="1" dirty="0"/>
              <a:t> classifier</a:t>
            </a:r>
            <a:r>
              <a:rPr lang="en-US" dirty="0"/>
              <a:t> to map outputs into </a:t>
            </a:r>
            <a:r>
              <a:rPr lang="en-US" b="1" dirty="0"/>
              <a:t>PI-RADS 2–5</a:t>
            </a:r>
            <a:r>
              <a:rPr lang="en-US" dirty="0"/>
              <a:t>, with a documented size-based adjustment rule</a:t>
            </a:r>
            <a:br>
              <a:rPr lang="en-US" dirty="0"/>
            </a:br>
            <a:r>
              <a:rPr lang="en-US" dirty="0"/>
              <a:t>- Outputs are deliberately audit-friendly: </a:t>
            </a:r>
            <a:r>
              <a:rPr lang="en-US" dirty="0" err="1"/>
              <a:t>NIfTI</a:t>
            </a:r>
            <a:r>
              <a:rPr lang="en-US" dirty="0"/>
              <a:t> copies of selected inputs, organ/lesion masks and probability maps, a lesion YAML report, and the two RTSTRUCT DICOM files (organ + lesion)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3B6A5-BED4-4A96-9F1B-ECDA8F56D24E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023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SG" b="1" dirty="0">
                <a:effectLst/>
              </a:rPr>
              <a:t>Input Conv</a:t>
            </a:r>
            <a:r>
              <a:rPr lang="en-SG" dirty="0">
                <a:effectLst/>
              </a:rPr>
              <a:t>: </a:t>
            </a:r>
            <a:r>
              <a:rPr lang="en-SG" dirty="0" err="1">
                <a:effectLst/>
              </a:rPr>
              <a:t>Downsample</a:t>
            </a:r>
            <a:r>
              <a:rPr lang="en-SG" dirty="0">
                <a:effectLst/>
              </a:rPr>
              <a:t> by 2x, expand to 32 channels</a:t>
            </a:r>
          </a:p>
          <a:p>
            <a:pPr>
              <a:buFont typeface="+mj-lt"/>
              <a:buAutoNum type="arabicPeriod" startAt="2"/>
            </a:pPr>
            <a:r>
              <a:rPr lang="en-SG" b="1" dirty="0">
                <a:effectLst/>
              </a:rPr>
              <a:t>Encoder</a:t>
            </a:r>
            <a:r>
              <a:rPr lang="en-SG" dirty="0">
                <a:effectLst/>
              </a:rPr>
              <a:t>: 4 levels with max pooling, channels double each level (32→64→128→256)</a:t>
            </a:r>
          </a:p>
          <a:p>
            <a:pPr>
              <a:buFont typeface="+mj-lt"/>
              <a:buAutoNum type="arabicPeriod" startAt="3"/>
            </a:pPr>
            <a:r>
              <a:rPr lang="en-SG" b="1" dirty="0">
                <a:effectLst/>
              </a:rPr>
              <a:t>Decoder</a:t>
            </a:r>
            <a:r>
              <a:rPr lang="en-SG" dirty="0">
                <a:effectLst/>
              </a:rPr>
              <a:t>: 3 levels with </a:t>
            </a:r>
            <a:r>
              <a:rPr lang="en-SG" dirty="0" err="1">
                <a:effectLst/>
              </a:rPr>
              <a:t>upsampling</a:t>
            </a:r>
            <a:r>
              <a:rPr lang="en-SG" dirty="0">
                <a:effectLst/>
              </a:rPr>
              <a:t> + skip concatenation</a:t>
            </a:r>
          </a:p>
          <a:p>
            <a:pPr>
              <a:buFont typeface="+mj-lt"/>
              <a:buAutoNum type="arabicPeriod" startAt="4"/>
            </a:pPr>
            <a:r>
              <a:rPr lang="en-SG" b="1" dirty="0">
                <a:effectLst/>
              </a:rPr>
              <a:t>Output</a:t>
            </a:r>
            <a:r>
              <a:rPr lang="en-SG" dirty="0">
                <a:effectLst/>
              </a:rPr>
              <a:t>: 1×1 conv to target classes → </a:t>
            </a:r>
            <a:r>
              <a:rPr lang="en-SG" dirty="0" err="1">
                <a:effectLst/>
              </a:rPr>
              <a:t>Softmax</a:t>
            </a:r>
            <a:endParaRPr lang="en-SG" dirty="0">
              <a:effectLst/>
            </a:endParaRPr>
          </a:p>
          <a:p>
            <a:br>
              <a:rPr lang="en-SG" b="1" dirty="0">
                <a:effectLst/>
              </a:rPr>
            </a:br>
            <a:r>
              <a:rPr lang="en-SG" b="1" dirty="0">
                <a:effectLst/>
              </a:rPr>
              <a:t>Why </a:t>
            </a:r>
            <a:r>
              <a:rPr lang="en-SG" b="1" dirty="0" err="1">
                <a:effectLst/>
              </a:rPr>
              <a:t>RRUNet</a:t>
            </a:r>
            <a:r>
              <a:rPr lang="en-SG" b="1" dirty="0">
                <a:effectLst/>
              </a:rPr>
              <a:t> for Prostate MRI?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b="1" dirty="0">
                <a:effectLst/>
              </a:rPr>
              <a:t>3D native</a:t>
            </a:r>
            <a:r>
              <a:rPr lang="en-SG" dirty="0">
                <a:effectLst/>
              </a:rPr>
              <a:t>: Processes volumetric MRI directly (not slice-by-slice)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b="1" dirty="0">
                <a:effectLst/>
              </a:rPr>
              <a:t>Multi-scale features</a:t>
            </a:r>
            <a:r>
              <a:rPr lang="en-SG" dirty="0">
                <a:effectLst/>
              </a:rPr>
              <a:t>: Encoder-decoder captures both local texture and global context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b="1" dirty="0">
                <a:effectLst/>
              </a:rPr>
              <a:t>Flexible</a:t>
            </a:r>
            <a:r>
              <a:rPr lang="en-SG" dirty="0">
                <a:effectLst/>
              </a:rPr>
              <a:t>: Can toggle recurrent/attention/SE modules based on task 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b="1" dirty="0">
                <a:effectLst/>
              </a:rPr>
              <a:t>Proven</a:t>
            </a:r>
            <a:r>
              <a:rPr lang="en-SG" dirty="0">
                <a:effectLst/>
              </a:rPr>
              <a:t>: Based on architectures validated in medical imaging literature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C3B6A5-BED4-4A96-9F1B-ECDA8F56D24E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3749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3B647-B56B-D427-D420-78B454C5B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B555C-87CE-9DFE-A171-B3F09B8D4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A2F97-6C1E-107C-86AB-4898C9F16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85D83-F03A-09CF-C643-731BD5D68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C0623-B11F-70EA-9687-896E96CA6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3BA450-0A33-1954-77A9-FFF3E8E68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73133"/>
            <a:ext cx="12192000" cy="168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90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6EEE7-52AE-7BDD-5AA1-A702EE89E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7" y="317728"/>
            <a:ext cx="11498943" cy="825046"/>
          </a:xfrm>
        </p:spPr>
        <p:txBody>
          <a:bodyPr/>
          <a:lstStyle>
            <a:lvl1pPr>
              <a:defRPr b="1">
                <a:solidFill>
                  <a:srgbClr val="215968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ED4E-3A99-AC9B-B17A-C03B653DA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7" y="1302430"/>
            <a:ext cx="11498943" cy="4895169"/>
          </a:xfrm>
        </p:spPr>
        <p:txBody>
          <a:bodyPr/>
          <a:lstStyle>
            <a:lvl1pPr>
              <a:defRPr sz="2600"/>
            </a:lvl1pPr>
            <a:lvl2pPr marL="685800" indent="-228600">
              <a:buFont typeface="Calibri" panose="020F0502020204030204" pitchFamily="34" charset="0"/>
              <a:buChar char="–"/>
              <a:defRPr/>
            </a:lvl2pPr>
            <a:lvl3pPr marL="1143000" indent="-228600">
              <a:buFont typeface="Calibri" panose="020F0502020204030204" pitchFamily="34" charset="0"/>
              <a:buChar char="▫"/>
              <a:defRPr sz="2200"/>
            </a:lvl3pPr>
            <a:lvl4pPr marL="1600200" indent="-228600">
              <a:buFont typeface="Calibri" panose="020F0502020204030204" pitchFamily="34" charset="0"/>
              <a:buChar char="▪"/>
              <a:defRPr sz="2000"/>
            </a:lvl4pPr>
            <a:lvl5pPr marL="2057400" indent="-228600">
              <a:buFont typeface="Calibri" panose="020F0502020204030204" pitchFamily="34" charset="0"/>
              <a:buChar char="◦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FCFDFDA-47E6-2AF0-37A2-588B01AEF0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0440" y="6482087"/>
            <a:ext cx="522073" cy="202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0644446-5DC5-2AF6-BC3B-89A25CBA6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13722"/>
            <a:ext cx="12192000" cy="72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29399C-59BF-8BA0-6C0D-D48A7A83D4CD}"/>
              </a:ext>
            </a:extLst>
          </p:cNvPr>
          <p:cNvSpPr txBox="1"/>
          <p:nvPr userDrawn="1"/>
        </p:nvSpPr>
        <p:spPr>
          <a:xfrm>
            <a:off x="5416968" y="6619067"/>
            <a:ext cx="1358064" cy="17543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91440" tIns="18288" rIns="91440" bIns="18288" rtlCol="0">
            <a:spAutoFit/>
          </a:bodyPr>
          <a:lstStyle/>
          <a:p>
            <a:pPr algn="ctr"/>
            <a:r>
              <a:rPr lang="en-US" sz="900" dirty="0"/>
              <a:t>Restricted, Non-sensitive</a:t>
            </a:r>
            <a:endParaRPr lang="en-SG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7D7BA-6930-C2A0-5464-D6870E159A86}"/>
              </a:ext>
            </a:extLst>
          </p:cNvPr>
          <p:cNvSpPr txBox="1"/>
          <p:nvPr userDrawn="1"/>
        </p:nvSpPr>
        <p:spPr>
          <a:xfrm>
            <a:off x="5305560" y="7225662"/>
            <a:ext cx="1580881" cy="17543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91440" tIns="18288" rIns="91440" bIns="18288" rtlCol="0">
            <a:spAutoFit/>
          </a:bodyPr>
          <a:lstStyle/>
          <a:p>
            <a:pPr algn="ctr"/>
            <a:r>
              <a:rPr lang="en-US" sz="900" dirty="0"/>
              <a:t>Restricted, Sensitive (Normal)</a:t>
            </a:r>
            <a:endParaRPr lang="en-SG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E7756-6BAB-21D3-2161-436AD34DBC38}"/>
              </a:ext>
            </a:extLst>
          </p:cNvPr>
          <p:cNvSpPr txBox="1"/>
          <p:nvPr userDrawn="1"/>
        </p:nvSpPr>
        <p:spPr>
          <a:xfrm>
            <a:off x="5358458" y="6976913"/>
            <a:ext cx="1475084" cy="175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18288" rIns="91440" bIns="18288" rtlCol="0">
            <a:spAutoFit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</a:rPr>
              <a:t>Restricted, Sensitive (High)</a:t>
            </a:r>
            <a:endParaRPr lang="en-SG" sz="9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1CC1E-AFE1-A670-010A-2EE65CCD5E23}"/>
              </a:ext>
            </a:extLst>
          </p:cNvPr>
          <p:cNvSpPr txBox="1"/>
          <p:nvPr userDrawn="1"/>
        </p:nvSpPr>
        <p:spPr>
          <a:xfrm>
            <a:off x="5722340" y="7474411"/>
            <a:ext cx="747320" cy="17543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91440" tIns="18288" rIns="91440" bIns="18288" rtlCol="0">
            <a:spAutoFit/>
          </a:bodyPr>
          <a:lstStyle/>
          <a:p>
            <a:pPr algn="ctr"/>
            <a:r>
              <a:rPr lang="en-US" sz="900"/>
              <a:t>Unclassified</a:t>
            </a:r>
            <a:endParaRPr lang="en-SG" sz="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962774D-8990-88E8-D1FA-2E8C9F2CF59B}"/>
              </a:ext>
            </a:extLst>
          </p:cNvPr>
          <p:cNvSpPr txBox="1">
            <a:spLocks/>
          </p:cNvSpPr>
          <p:nvPr userDrawn="1"/>
        </p:nvSpPr>
        <p:spPr bwMode="auto">
          <a:xfrm>
            <a:off x="8765965" y="76736"/>
            <a:ext cx="3324435" cy="360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1600" b="1" i="1" kern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Move Fast &amp; Make Things Together</a:t>
            </a:r>
            <a:endParaRPr lang="en-SG" sz="1600" b="1" i="1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40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2CE3-E9A3-665F-2406-7DFA8C08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33BF8-AAED-73DC-1BD5-66A79C33A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5E0B7-2D18-24A3-4610-881B0E58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ED2F1-9257-5E91-750D-62F8A8CC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B1FB0-B68D-5012-D689-1DDB3ACFF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88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F76B-ED20-9723-DFE2-6E6DDB35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EFB94-FD7A-B6CB-013F-3CF4186FA4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1D480-9E48-44C6-521A-B17A8A510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474DF-C4C1-F9AA-BED6-892A301E1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21E15-EE63-940C-A2F1-C8CF062B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4E0E8-4132-5721-DBE5-8BA7B3588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949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67F2-85F8-AECA-5885-49CC39F06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C6E41-629A-C79D-E3DC-7C1A2EDB5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828BB-C4B8-C983-1DC0-8D74BFFE4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C630B-C053-656E-8CEF-A142A59EC4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FBE6-354D-9ABD-ABA4-29C0CDADD6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281DB1-FD48-EAF5-6F00-72F7FBCF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2AC67-FC00-8F87-F648-C34064F70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086577-E2F3-244F-32D9-168CF0E2E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19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81060-5318-8844-196C-45F2625F2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3A7DD2-0AC9-2A01-3168-5EBF823FD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A95756-C970-71C4-3CB4-42907E9F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27C18-4C88-B4B0-D48A-F425A6A8C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33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3">
            <a:extLst>
              <a:ext uri="{FF2B5EF4-FFF2-40B4-BE49-F238E27FC236}">
                <a16:creationId xmlns:a16="http://schemas.microsoft.com/office/drawing/2014/main" id="{8ABD3797-06E8-1F0F-B298-A9F467D351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7493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3F7EF2-8461-37D3-AB21-E438BADD2060}"/>
              </a:ext>
            </a:extLst>
          </p:cNvPr>
          <p:cNvSpPr/>
          <p:nvPr userDrawn="1"/>
        </p:nvSpPr>
        <p:spPr>
          <a:xfrm>
            <a:off x="0" y="-93902"/>
            <a:ext cx="12192000" cy="6968836"/>
          </a:xfrm>
          <a:prstGeom prst="rect">
            <a:avLst/>
          </a:prstGeom>
          <a:solidFill>
            <a:srgbClr val="006666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5671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8630-9F5E-B207-61C3-01834AAC3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B4F58-C897-603F-B034-2985A567E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D5B07-22CB-535A-9A2F-7F1141841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DB7997-3AA6-6097-6F90-55FD86DD6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70926-E5C8-4EF3-DE33-0803E93A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B5C61-2AC9-C4EA-6A79-BE8A0038D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88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C5E91-F1CF-2E44-EDA4-07E9CBE52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153C6-EAAC-4E8D-C96F-85BC65EA62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4D34C-A7A9-4C2E-2B39-81E61D103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BAF61-1BC9-BA65-F4DF-C1D226A63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F6A445-6FAB-E542-8966-E76AEB03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3F949-DE7C-D2DD-17E8-B776BC88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30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D163A-0250-0079-801C-75B06434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7F58A-DC58-304F-D86C-1B0C90665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DC235-D4CC-42A0-48C3-8BF6370E4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D851C-2350-B64C-ABE8-0E71ED15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FBD51-50E7-1A92-A943-77E5E086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6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378BA-D275-0E36-FC64-F90A1954A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D40DC-9124-651C-A10B-9F203F8AE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ED5256-AFF5-D4B1-7272-526242280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4CE0C-8444-075B-1ED0-AF83AA7EC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DE687-E2E8-8E15-1C8C-A079FB70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444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Title and 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 userDrawn="1"/>
        </p:nvSpPr>
        <p:spPr>
          <a:xfrm rot="-5400000">
            <a:off x="-561331" y="4993023"/>
            <a:ext cx="2426305" cy="1303647"/>
          </a:xfrm>
          <a:custGeom>
            <a:avLst/>
            <a:gdLst/>
            <a:ahLst/>
            <a:cxnLst/>
            <a:rect l="l" t="t" r="r" b="b"/>
            <a:pathLst>
              <a:path w="35107" h="20295" extrusionOk="0">
                <a:moveTo>
                  <a:pt x="1" y="0"/>
                </a:moveTo>
                <a:lnTo>
                  <a:pt x="1" y="20294"/>
                </a:lnTo>
                <a:cubicBezTo>
                  <a:pt x="31" y="20295"/>
                  <a:pt x="61" y="20295"/>
                  <a:pt x="91" y="20295"/>
                </a:cubicBezTo>
                <a:cubicBezTo>
                  <a:pt x="1642" y="20295"/>
                  <a:pt x="3520" y="19365"/>
                  <a:pt x="4425" y="15366"/>
                </a:cubicBezTo>
                <a:cubicBezTo>
                  <a:pt x="5823" y="9175"/>
                  <a:pt x="8269" y="8174"/>
                  <a:pt x="11552" y="8174"/>
                </a:cubicBezTo>
                <a:cubicBezTo>
                  <a:pt x="12214" y="8174"/>
                  <a:pt x="12910" y="8215"/>
                  <a:pt x="13639" y="8262"/>
                </a:cubicBezTo>
                <a:cubicBezTo>
                  <a:pt x="14350" y="8308"/>
                  <a:pt x="15045" y="8332"/>
                  <a:pt x="15722" y="8332"/>
                </a:cubicBezTo>
                <a:cubicBezTo>
                  <a:pt x="19177" y="8332"/>
                  <a:pt x="22139" y="7705"/>
                  <a:pt x="24074" y="6152"/>
                </a:cubicBezTo>
                <a:cubicBezTo>
                  <a:pt x="25980" y="4621"/>
                  <a:pt x="26304" y="2975"/>
                  <a:pt x="28642" y="2975"/>
                </a:cubicBezTo>
                <a:cubicBezTo>
                  <a:pt x="29154" y="2975"/>
                  <a:pt x="29762" y="3054"/>
                  <a:pt x="30505" y="3231"/>
                </a:cubicBezTo>
                <a:cubicBezTo>
                  <a:pt x="30855" y="3313"/>
                  <a:pt x="31180" y="3350"/>
                  <a:pt x="31483" y="3350"/>
                </a:cubicBezTo>
                <a:cubicBezTo>
                  <a:pt x="33723" y="3350"/>
                  <a:pt x="34712" y="1291"/>
                  <a:pt x="35107" y="0"/>
                </a:cubicBezTo>
                <a:close/>
              </a:path>
            </a:pathLst>
          </a:custGeom>
          <a:solidFill>
            <a:srgbClr val="F57445">
              <a:alpha val="220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1" name="Google Shape;41;p4"/>
          <p:cNvSpPr/>
          <p:nvPr userDrawn="1"/>
        </p:nvSpPr>
        <p:spPr>
          <a:xfrm rot="-5400000">
            <a:off x="10773571" y="4890297"/>
            <a:ext cx="2106557" cy="2108320"/>
          </a:xfrm>
          <a:custGeom>
            <a:avLst/>
            <a:gdLst/>
            <a:ahLst/>
            <a:cxnLst/>
            <a:rect l="l" t="t" r="r" b="b"/>
            <a:pathLst>
              <a:path w="19211" h="19255" extrusionOk="0">
                <a:moveTo>
                  <a:pt x="1" y="0"/>
                </a:moveTo>
                <a:lnTo>
                  <a:pt x="1" y="18388"/>
                </a:lnTo>
                <a:cubicBezTo>
                  <a:pt x="697" y="18900"/>
                  <a:pt x="1446" y="19255"/>
                  <a:pt x="2188" y="19255"/>
                </a:cubicBezTo>
                <a:cubicBezTo>
                  <a:pt x="2431" y="19255"/>
                  <a:pt x="2673" y="19217"/>
                  <a:pt x="2913" y="19134"/>
                </a:cubicBezTo>
                <a:cubicBezTo>
                  <a:pt x="5834" y="18137"/>
                  <a:pt x="3529" y="15569"/>
                  <a:pt x="7514" y="15213"/>
                </a:cubicBezTo>
                <a:cubicBezTo>
                  <a:pt x="7708" y="15196"/>
                  <a:pt x="7898" y="15188"/>
                  <a:pt x="8085" y="15188"/>
                </a:cubicBezTo>
                <a:cubicBezTo>
                  <a:pt x="10428" y="15188"/>
                  <a:pt x="12183" y="16449"/>
                  <a:pt x="13820" y="16449"/>
                </a:cubicBezTo>
                <a:cubicBezTo>
                  <a:pt x="14727" y="16449"/>
                  <a:pt x="15598" y="16062"/>
                  <a:pt x="16513" y="14859"/>
                </a:cubicBezTo>
                <a:cubicBezTo>
                  <a:pt x="19210" y="11313"/>
                  <a:pt x="15140" y="9017"/>
                  <a:pt x="11416" y="8840"/>
                </a:cubicBezTo>
                <a:cubicBezTo>
                  <a:pt x="7691" y="8661"/>
                  <a:pt x="5303" y="9277"/>
                  <a:pt x="5126" y="5330"/>
                </a:cubicBezTo>
                <a:cubicBezTo>
                  <a:pt x="4947" y="1391"/>
                  <a:pt x="3464" y="643"/>
                  <a:pt x="1" y="0"/>
                </a:cubicBezTo>
                <a:close/>
              </a:path>
            </a:pathLst>
          </a:custGeom>
          <a:solidFill>
            <a:srgbClr val="F57445">
              <a:alpha val="220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2E77382-1A76-33EF-5E4E-D4BAD53A7A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48685" y="1798705"/>
            <a:ext cx="10849465" cy="4238169"/>
          </a:xfrm>
        </p:spPr>
        <p:txBody>
          <a:bodyPr/>
          <a:lstStyle>
            <a:lvl1pPr>
              <a:lnSpc>
                <a:spcPct val="150000"/>
              </a:lnSpc>
              <a:defRPr sz="2400">
                <a:latin typeface="+mn-lt"/>
              </a:defRPr>
            </a:lvl1pPr>
            <a:lvl2pPr marL="1219170" indent="-423323">
              <a:lnSpc>
                <a:spcPct val="150000"/>
              </a:lnSpc>
              <a:buFont typeface="Albert Sans Medium" panose="020B0604020202020204" charset="0"/>
              <a:buChar char="−"/>
              <a:defRPr sz="2133">
                <a:latin typeface="+mn-lt"/>
              </a:defRPr>
            </a:lvl2pPr>
            <a:lvl3pPr marL="1786422" indent="-380990">
              <a:lnSpc>
                <a:spcPct val="150000"/>
              </a:lnSpc>
              <a:buFont typeface="Wingdings" panose="05000000000000000000" pitchFamily="2" charset="2"/>
              <a:buChar char="§"/>
              <a:defRPr sz="2133"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3BB2FB4F-3F2A-FFEA-9A38-9BC8C324FE9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105" y="673583"/>
            <a:ext cx="10094628" cy="520460"/>
          </a:xfrm>
        </p:spPr>
        <p:txBody>
          <a:bodyPr/>
          <a:lstStyle>
            <a:lvl1pPr marL="0" indent="0">
              <a:buNone/>
              <a:defRPr b="1">
                <a:solidFill>
                  <a:srgbClr val="5F5F5F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Google Shape;77;p6">
            <a:extLst>
              <a:ext uri="{FF2B5EF4-FFF2-40B4-BE49-F238E27FC236}">
                <a16:creationId xmlns:a16="http://schemas.microsoft.com/office/drawing/2014/main" id="{38FE3465-99CD-B2D9-EAF2-B6A0E9185907}"/>
              </a:ext>
            </a:extLst>
          </p:cNvPr>
          <p:cNvSpPr/>
          <p:nvPr userDrawn="1"/>
        </p:nvSpPr>
        <p:spPr>
          <a:xfrm flipH="1">
            <a:off x="7955405" y="-4"/>
            <a:ext cx="4236596" cy="1596811"/>
          </a:xfrm>
          <a:custGeom>
            <a:avLst/>
            <a:gdLst/>
            <a:ahLst/>
            <a:cxnLst/>
            <a:rect l="l" t="t" r="r" b="b"/>
            <a:pathLst>
              <a:path w="35107" h="20295" extrusionOk="0">
                <a:moveTo>
                  <a:pt x="1" y="0"/>
                </a:moveTo>
                <a:lnTo>
                  <a:pt x="1" y="20294"/>
                </a:lnTo>
                <a:cubicBezTo>
                  <a:pt x="31" y="20295"/>
                  <a:pt x="61" y="20295"/>
                  <a:pt x="91" y="20295"/>
                </a:cubicBezTo>
                <a:cubicBezTo>
                  <a:pt x="1642" y="20295"/>
                  <a:pt x="3520" y="19365"/>
                  <a:pt x="4425" y="15366"/>
                </a:cubicBezTo>
                <a:cubicBezTo>
                  <a:pt x="5823" y="9175"/>
                  <a:pt x="8269" y="8174"/>
                  <a:pt x="11552" y="8174"/>
                </a:cubicBezTo>
                <a:cubicBezTo>
                  <a:pt x="12214" y="8174"/>
                  <a:pt x="12910" y="8215"/>
                  <a:pt x="13639" y="8262"/>
                </a:cubicBezTo>
                <a:cubicBezTo>
                  <a:pt x="14350" y="8308"/>
                  <a:pt x="15045" y="8332"/>
                  <a:pt x="15722" y="8332"/>
                </a:cubicBezTo>
                <a:cubicBezTo>
                  <a:pt x="19177" y="8332"/>
                  <a:pt x="22139" y="7705"/>
                  <a:pt x="24074" y="6152"/>
                </a:cubicBezTo>
                <a:cubicBezTo>
                  <a:pt x="25980" y="4621"/>
                  <a:pt x="26304" y="2975"/>
                  <a:pt x="28642" y="2975"/>
                </a:cubicBezTo>
                <a:cubicBezTo>
                  <a:pt x="29154" y="2975"/>
                  <a:pt x="29762" y="3054"/>
                  <a:pt x="30505" y="3231"/>
                </a:cubicBezTo>
                <a:cubicBezTo>
                  <a:pt x="30855" y="3313"/>
                  <a:pt x="31180" y="3350"/>
                  <a:pt x="31483" y="3350"/>
                </a:cubicBezTo>
                <a:cubicBezTo>
                  <a:pt x="33723" y="3350"/>
                  <a:pt x="34712" y="1291"/>
                  <a:pt x="35107" y="0"/>
                </a:cubicBezTo>
                <a:close/>
              </a:path>
            </a:pathLst>
          </a:custGeom>
          <a:solidFill>
            <a:srgbClr val="F57445">
              <a:alpha val="220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" name="Google Shape;84;p7">
            <a:extLst>
              <a:ext uri="{FF2B5EF4-FFF2-40B4-BE49-F238E27FC236}">
                <a16:creationId xmlns:a16="http://schemas.microsoft.com/office/drawing/2014/main" id="{28D360CE-A51A-3B95-9F74-273ABCE1661C}"/>
              </a:ext>
            </a:extLst>
          </p:cNvPr>
          <p:cNvSpPr/>
          <p:nvPr userDrawn="1"/>
        </p:nvSpPr>
        <p:spPr>
          <a:xfrm>
            <a:off x="-654504" y="2863273"/>
            <a:ext cx="1241608" cy="834801"/>
          </a:xfrm>
          <a:custGeom>
            <a:avLst/>
            <a:gdLst/>
            <a:ahLst/>
            <a:cxnLst/>
            <a:rect l="l" t="t" r="r" b="b"/>
            <a:pathLst>
              <a:path w="6797" h="4570" extrusionOk="0">
                <a:moveTo>
                  <a:pt x="4229" y="0"/>
                </a:moveTo>
                <a:cubicBezTo>
                  <a:pt x="1835" y="0"/>
                  <a:pt x="1" y="4136"/>
                  <a:pt x="3166" y="4535"/>
                </a:cubicBezTo>
                <a:cubicBezTo>
                  <a:pt x="3350" y="4558"/>
                  <a:pt x="3525" y="4569"/>
                  <a:pt x="3691" y="4569"/>
                </a:cubicBezTo>
                <a:cubicBezTo>
                  <a:pt x="6725" y="4569"/>
                  <a:pt x="6797" y="948"/>
                  <a:pt x="5115" y="196"/>
                </a:cubicBezTo>
                <a:cubicBezTo>
                  <a:pt x="4816" y="61"/>
                  <a:pt x="4518" y="0"/>
                  <a:pt x="4229" y="0"/>
                </a:cubicBezTo>
                <a:close/>
              </a:path>
            </a:pathLst>
          </a:custGeom>
          <a:solidFill>
            <a:srgbClr val="F57445">
              <a:alpha val="2201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587330" y="238950"/>
            <a:ext cx="10849460" cy="4929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667" b="1" u="sng">
                <a:latin typeface="+mj-l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29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A78A43-7AC0-3030-5A69-4A8B9C7F7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24653-8CF6-D9CE-71A9-30901937F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A9085-4451-A89E-E9F1-5DF1FD9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9E1BDE-5B61-403D-9EC3-09668BC7BE3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93CC7-43C4-B9D5-6274-C094218AFC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5C125-7026-3B64-6370-107AE2190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6D07C-418B-4807-8E4F-309F30E87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5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39DD8CD-52D6-64B4-7BF3-4EB17E2DB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181600"/>
          </a:xfrm>
          <a:prstGeom prst="rect">
            <a:avLst/>
          </a:prstGeom>
        </p:spPr>
      </p:pic>
      <p:sp>
        <p:nvSpPr>
          <p:cNvPr id="15" name="Round Same Side Corner Rectangle 6">
            <a:extLst>
              <a:ext uri="{FF2B5EF4-FFF2-40B4-BE49-F238E27FC236}">
                <a16:creationId xmlns:a16="http://schemas.microsoft.com/office/drawing/2014/main" id="{2CBD6274-614F-4EC8-E185-090922A7F6CB}"/>
              </a:ext>
            </a:extLst>
          </p:cNvPr>
          <p:cNvSpPr/>
          <p:nvPr/>
        </p:nvSpPr>
        <p:spPr>
          <a:xfrm rot="16200000">
            <a:off x="5446186" y="-1788583"/>
            <a:ext cx="2595034" cy="10896600"/>
          </a:xfrm>
          <a:prstGeom prst="round2SameRect">
            <a:avLst/>
          </a:prstGeom>
          <a:solidFill>
            <a:srgbClr val="F2F2F2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SG" sz="2400">
              <a:solidFill>
                <a:prstClr val="whit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B35C916-F57A-F38A-6074-269D17B63F4C}"/>
              </a:ext>
            </a:extLst>
          </p:cNvPr>
          <p:cNvSpPr txBox="1">
            <a:spLocks/>
          </p:cNvSpPr>
          <p:nvPr/>
        </p:nvSpPr>
        <p:spPr bwMode="auto">
          <a:xfrm>
            <a:off x="1534585" y="2524125"/>
            <a:ext cx="10321441" cy="113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3733" b="1" kern="0" dirty="0">
                <a:solidFill>
                  <a:srgbClr val="006666"/>
                </a:solidFill>
                <a:latin typeface="+mn-lt"/>
                <a:cs typeface="Arial" panose="020B0604020202020204" pitchFamily="34" charset="0"/>
              </a:rPr>
              <a:t>MRI Prostate Segmentation Assistant (MRI PSA)</a:t>
            </a:r>
          </a:p>
          <a:p>
            <a:pPr algn="l" fontAlgn="auto">
              <a:spcAft>
                <a:spcPts val="0"/>
              </a:spcAft>
              <a:defRPr/>
            </a:pPr>
            <a:endParaRPr lang="en-SG" sz="3733" b="1" dirty="0">
              <a:solidFill>
                <a:srgbClr val="006666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32F127-7C9B-EAB0-25E0-979D1F2DC6A8}"/>
              </a:ext>
            </a:extLst>
          </p:cNvPr>
          <p:cNvSpPr txBox="1"/>
          <p:nvPr/>
        </p:nvSpPr>
        <p:spPr>
          <a:xfrm>
            <a:off x="5416968" y="76200"/>
            <a:ext cx="1358064" cy="17543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91440" tIns="18288" rIns="91440" bIns="18288" rtlCol="0" anchor="ctr">
            <a:spAutoFit/>
          </a:bodyPr>
          <a:lstStyle/>
          <a:p>
            <a:pPr algn="ctr"/>
            <a:r>
              <a:rPr lang="en-US" sz="900" dirty="0"/>
              <a:t>Restricted, Non-sensitive</a:t>
            </a:r>
            <a:endParaRPr lang="en-SG" sz="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5FD742-F418-DE76-8BF4-4250A637D59C}"/>
              </a:ext>
            </a:extLst>
          </p:cNvPr>
          <p:cNvSpPr txBox="1"/>
          <p:nvPr/>
        </p:nvSpPr>
        <p:spPr>
          <a:xfrm>
            <a:off x="5305559" y="-554658"/>
            <a:ext cx="1580881" cy="17543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91440" tIns="18288" rIns="91440" bIns="18288" rtlCol="0" anchor="ctr">
            <a:spAutoFit/>
          </a:bodyPr>
          <a:lstStyle/>
          <a:p>
            <a:pPr algn="ctr"/>
            <a:r>
              <a:rPr lang="en-US" sz="900" dirty="0"/>
              <a:t>Restricted, Sensitive (Normal)</a:t>
            </a:r>
            <a:endParaRPr lang="en-SG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DB49C4-F866-6072-77DD-21592A27903F}"/>
              </a:ext>
            </a:extLst>
          </p:cNvPr>
          <p:cNvSpPr txBox="1"/>
          <p:nvPr/>
        </p:nvSpPr>
        <p:spPr>
          <a:xfrm>
            <a:off x="5342427" y="-805107"/>
            <a:ext cx="1475084" cy="1754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lIns="91440" tIns="18288" rIns="91440" bIns="18288" rtlCol="0" anchor="ctr">
            <a:spAutoFit/>
          </a:bodyPr>
          <a:lstStyle/>
          <a:p>
            <a:pPr algn="ctr"/>
            <a:r>
              <a:rPr lang="en-US" sz="900" b="1" dirty="0">
                <a:solidFill>
                  <a:srgbClr val="FF0000"/>
                </a:solidFill>
              </a:rPr>
              <a:t>Restricted, Sensitive (High)</a:t>
            </a:r>
            <a:endParaRPr lang="en-SG" sz="900" b="1" dirty="0">
              <a:solidFill>
                <a:srgbClr val="FF0000"/>
              </a:solidFill>
            </a:endParaRPr>
          </a:p>
        </p:txBody>
      </p:sp>
      <p:sp>
        <p:nvSpPr>
          <p:cNvPr id="21" name="Slide Number Placeholder 2">
            <a:extLst>
              <a:ext uri="{FF2B5EF4-FFF2-40B4-BE49-F238E27FC236}">
                <a16:creationId xmlns:a16="http://schemas.microsoft.com/office/drawing/2014/main" id="{591E1209-1CB7-483B-DEBB-3E215F984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421903"/>
            <a:ext cx="2844800" cy="365125"/>
          </a:xfrm>
        </p:spPr>
        <p:txBody>
          <a:bodyPr/>
          <a:lstStyle/>
          <a:p>
            <a:fld id="{7E04DF57-3559-2247-9876-E09FE4830FF8}" type="slidenum">
              <a:rPr lang="en-US" smtClean="0"/>
              <a:t>1</a:t>
            </a:fld>
            <a:endParaRPr lang="en-US"/>
          </a:p>
        </p:txBody>
      </p:sp>
      <p:pic>
        <p:nvPicPr>
          <p:cNvPr id="22" name="Picture 21" descr="A picture containing icon&#10;&#10;Description automatically generated">
            <a:extLst>
              <a:ext uri="{FF2B5EF4-FFF2-40B4-BE49-F238E27FC236}">
                <a16:creationId xmlns:a16="http://schemas.microsoft.com/office/drawing/2014/main" id="{28F117DD-6DAC-E5BA-194A-CF61500469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03"/>
          <a:stretch/>
        </p:blipFill>
        <p:spPr>
          <a:xfrm>
            <a:off x="8444155" y="4141289"/>
            <a:ext cx="3747845" cy="67814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1017478-7B60-64F9-B0DA-DF51344251AF}"/>
              </a:ext>
            </a:extLst>
          </p:cNvPr>
          <p:cNvSpPr txBox="1"/>
          <p:nvPr/>
        </p:nvSpPr>
        <p:spPr>
          <a:xfrm>
            <a:off x="5722339" y="-301249"/>
            <a:ext cx="747320" cy="175433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none" lIns="91440" tIns="18288" rIns="91440" bIns="18288" rtlCol="0" anchor="ctr">
            <a:spAutoFit/>
          </a:bodyPr>
          <a:lstStyle/>
          <a:p>
            <a:pPr algn="ctr"/>
            <a:r>
              <a:rPr lang="en-US" sz="900"/>
              <a:t>Unclassified</a:t>
            </a:r>
            <a:endParaRPr lang="en-SG" sz="9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2E59A-3C18-519A-A637-CCE5661EB7B7}"/>
              </a:ext>
            </a:extLst>
          </p:cNvPr>
          <p:cNvSpPr txBox="1">
            <a:spLocks/>
          </p:cNvSpPr>
          <p:nvPr/>
        </p:nvSpPr>
        <p:spPr bwMode="auto">
          <a:xfrm>
            <a:off x="1534586" y="4609289"/>
            <a:ext cx="4045440" cy="32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  <a:no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fontAlgn="auto">
              <a:spcAft>
                <a:spcPts val="0"/>
              </a:spcAft>
              <a:defRPr/>
            </a:pPr>
            <a:r>
              <a:rPr lang="en-US" sz="1200" b="1" i="1" kern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Move Fast &amp; Make Things Together</a:t>
            </a:r>
            <a:endParaRPr lang="en-SG" sz="1200" b="1" i="1" dirty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2ADB30-0031-AACC-BAFA-C84C62EA5A8C}"/>
              </a:ext>
            </a:extLst>
          </p:cNvPr>
          <p:cNvSpPr txBox="1">
            <a:spLocks/>
          </p:cNvSpPr>
          <p:nvPr/>
        </p:nvSpPr>
        <p:spPr bwMode="auto">
          <a:xfrm>
            <a:off x="1534583" y="3321605"/>
            <a:ext cx="7296775" cy="1190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lvl="0" fontAlgn="base">
              <a:spcAft>
                <a:spcPts val="600"/>
              </a:spcAft>
            </a:pPr>
            <a:r>
              <a:rPr lang="en-US" sz="2000" b="1" kern="0" dirty="0">
                <a:solidFill>
                  <a:srgbClr val="006666"/>
                </a:solidFill>
                <a:latin typeface="+mn-lt"/>
                <a:ea typeface="+mj-ea"/>
                <a:cs typeface="Arial" panose="020B0604020202020204" pitchFamily="34" charset="0"/>
              </a:rPr>
              <a:t>3 February 2026 (DDS Technical Meeting)</a:t>
            </a:r>
          </a:p>
          <a:p>
            <a:pPr lvl="0" fontAlgn="base">
              <a:spcAft>
                <a:spcPts val="600"/>
              </a:spcAft>
            </a:pPr>
            <a:r>
              <a:rPr lang="en-US" sz="2000" b="1" kern="0" dirty="0">
                <a:latin typeface="+mn-lt"/>
                <a:ea typeface="+mj-ea"/>
                <a:cs typeface="Arial" panose="020B0604020202020204" pitchFamily="34" charset="0"/>
              </a:rPr>
              <a:t>Anson – Analyst, Data Science</a:t>
            </a:r>
          </a:p>
          <a:p>
            <a:pPr lvl="0" fontAlgn="base">
              <a:spcAft>
                <a:spcPts val="600"/>
              </a:spcAft>
            </a:pPr>
            <a:r>
              <a:rPr lang="en-US" sz="2000" b="1" kern="0" dirty="0">
                <a:latin typeface="+mn-lt"/>
                <a:ea typeface="+mj-ea"/>
                <a:cs typeface="Arial" panose="020B0604020202020204" pitchFamily="34" charset="0"/>
              </a:rPr>
              <a:t>Sufyan – Associate Principal Analyst, Data Science </a:t>
            </a:r>
          </a:p>
          <a:p>
            <a:pPr lvl="0" fontAlgn="base">
              <a:spcBef>
                <a:spcPct val="20000"/>
              </a:spcBef>
              <a:spcAft>
                <a:spcPct val="0"/>
              </a:spcAft>
            </a:pPr>
            <a:br>
              <a:rPr lang="en-US" dirty="0">
                <a:solidFill>
                  <a:srgbClr val="0D0D0D"/>
                </a:solidFill>
                <a:latin typeface="+mn-lt"/>
                <a:cs typeface="Arial" panose="020B0604020202020204" pitchFamily="34" charset="0"/>
              </a:rPr>
            </a:br>
            <a:endParaRPr lang="en-US" dirty="0">
              <a:solidFill>
                <a:srgbClr val="0D0D0D"/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29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4706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rPr sz="2800" b="1" dirty="0">
                <a:solidFill>
                  <a:schemeClr val="bg1"/>
                </a:solidFill>
              </a:rPr>
              <a:t>• </a:t>
            </a:r>
            <a:r>
              <a:rPr sz="3200" b="1" dirty="0">
                <a:solidFill>
                  <a:schemeClr val="bg1"/>
                </a:solidFill>
              </a:rPr>
              <a:t>Problem Statement &amp; Clinical Need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rPr sz="3200" b="1" dirty="0">
                <a:solidFill>
                  <a:schemeClr val="bg1"/>
                </a:solidFill>
              </a:rPr>
              <a:t>• Project Objectives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rPr sz="3200" b="1" dirty="0">
                <a:solidFill>
                  <a:schemeClr val="bg1"/>
                </a:solidFill>
              </a:rPr>
              <a:t>• Solution Architecture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rPr sz="3200" b="1" dirty="0">
                <a:solidFill>
                  <a:schemeClr val="bg1"/>
                </a:solidFill>
              </a:rPr>
              <a:t>• Technical Implementation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rPr sz="3200" b="1" dirty="0">
                <a:solidFill>
                  <a:schemeClr val="bg1"/>
                </a:solidFill>
              </a:rPr>
              <a:t>• Integration &amp; Deployment Strategy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rPr sz="3200" b="1" dirty="0">
                <a:solidFill>
                  <a:schemeClr val="bg1"/>
                </a:solidFill>
              </a:rPr>
              <a:t>• Preliminary Results</a:t>
            </a:r>
          </a:p>
          <a:p>
            <a:pPr>
              <a:spcAft>
                <a:spcPts val="1200"/>
              </a:spcAft>
              <a:defRPr sz="2200">
                <a:solidFill>
                  <a:srgbClr val="404040"/>
                </a:solidFill>
              </a:defRPr>
            </a:pPr>
            <a:r>
              <a:rPr sz="3200" b="1" dirty="0">
                <a:solidFill>
                  <a:schemeClr val="bg1"/>
                </a:solidFill>
              </a:rPr>
              <a:t>• Project Timeline &amp; Next Steps</a:t>
            </a:r>
            <a:endParaRPr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1009-4B88-8331-BF10-0A20432FB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28" y="576572"/>
            <a:ext cx="11498943" cy="825046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Statement: Clinical Workflow Challenge</a:t>
            </a:r>
            <a:br>
              <a:rPr lang="en-US" dirty="0"/>
            </a:b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B1DA6-AEAD-6C1E-6BA1-2DEFBA847E7D}"/>
              </a:ext>
            </a:extLst>
          </p:cNvPr>
          <p:cNvSpPr txBox="1"/>
          <p:nvPr/>
        </p:nvSpPr>
        <p:spPr>
          <a:xfrm>
            <a:off x="346528" y="1542906"/>
            <a:ext cx="10027227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SGH performs &gt;1,700 prostate MRI examinations annually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</a:t>
            </a:r>
            <a:r>
              <a:rPr kumimoji="0" lang="en-SG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Approx.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42% proceed to MRI-guided targeted biopsy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Current biopsy planning workflow is highly manual: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Manual prostate and lesion contouring in vendor software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Takes ~16 minutes per case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Requires expertise and is time-consuming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Multiple manual transfer steps introduce potential errors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Opportunity: AI-assisted contouring to improve efficiency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C355E3-C3B2-0F1C-3AAA-3B810DD29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203" y="1542907"/>
            <a:ext cx="3462485" cy="346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468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580A7-6BE6-820F-4205-AB8A679D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Project Objectives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63E30D-3DAF-80AC-8D1B-C32F45EF2647}"/>
              </a:ext>
            </a:extLst>
          </p:cNvPr>
          <p:cNvGrpSpPr/>
          <p:nvPr/>
        </p:nvGrpSpPr>
        <p:grpSpPr>
          <a:xfrm>
            <a:off x="793930" y="1142774"/>
            <a:ext cx="11064240" cy="5029200"/>
            <a:chOff x="457200" y="1280160"/>
            <a:chExt cx="11064240" cy="50292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92B24B-3006-53A1-7F1A-8D5A4B2FC168}"/>
                </a:ext>
              </a:extLst>
            </p:cNvPr>
            <p:cNvSpPr txBox="1"/>
            <p:nvPr/>
          </p:nvSpPr>
          <p:spPr>
            <a:xfrm>
              <a:off x="457200" y="1280160"/>
              <a:ext cx="5303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70C0"/>
                  </a:solidFill>
                </a:defRPr>
              </a:pPr>
              <a:r>
                <a:rPr kumimoji="0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rPr>
                <a:t>Primary Goals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4955137-9D7A-2E4D-45F6-3E1C3BACE199}"/>
                </a:ext>
              </a:extLst>
            </p:cNvPr>
            <p:cNvSpPr txBox="1"/>
            <p:nvPr/>
          </p:nvSpPr>
          <p:spPr>
            <a:xfrm>
              <a:off x="457200" y="1737360"/>
              <a:ext cx="530352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Develop AI-assisted prostate segmentation workflow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Reduce contouring time from ~16 min to ~5 min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Generate DICOM-compliant outputs (RTSTRUCT)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Train SGH-optimized model using local data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Preserve clinical quality through radiologist review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88F784-D5DC-9E11-CFAB-C1E8704F18D5}"/>
                </a:ext>
              </a:extLst>
            </p:cNvPr>
            <p:cNvSpPr txBox="1"/>
            <p:nvPr/>
          </p:nvSpPr>
          <p:spPr>
            <a:xfrm>
              <a:off x="6217920" y="1280160"/>
              <a:ext cx="5303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70C0"/>
                  </a:solidFill>
                </a:defRPr>
              </a:pPr>
              <a:r>
                <a:rPr kumimoji="0" sz="2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rPr>
                <a:t>Integration Goals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13AF57-1EEF-35E1-8B9C-98E6D7748AE9}"/>
                </a:ext>
              </a:extLst>
            </p:cNvPr>
            <p:cNvSpPr txBox="1"/>
            <p:nvPr/>
          </p:nvSpPr>
          <p:spPr>
            <a:xfrm>
              <a:off x="6217920" y="1737360"/>
              <a:ext cx="530352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Integrate with RAPIER CARPL platform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Ensure compatibility with Biobot systems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Mona Lisa surgical biopsy system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UroFusion contour review software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Seamless end-to-end clinical workflow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E996EE26-9B73-76E0-008D-AB7D31B8C324}"/>
              </a:ext>
            </a:extLst>
          </p:cNvPr>
          <p:cNvSpPr txBox="1"/>
          <p:nvPr/>
        </p:nvSpPr>
        <p:spPr>
          <a:xfrm>
            <a:off x="3444240" y="4231406"/>
            <a:ext cx="5303520" cy="150923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TLDR; Our job is to output DICOM-compliant RTSTRUCT segmentations that these tools can ingest reliably for surgical planning and hopefully reduce the tedious and manual </a:t>
            </a:r>
            <a:r>
              <a:rPr kumimoji="0" lang="en-SG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biopsy planning workflow to just 5 minutes per case! 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36052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1BA5-A0BD-8004-1504-C75DCB20A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Solution Architecture: End-to-End Pipeline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2139F2-42B9-EA41-3FC2-9B38D6B39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50" y="1341514"/>
            <a:ext cx="11248095" cy="36762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6BD4A2-3879-C896-B1A3-777E257D958F}"/>
              </a:ext>
            </a:extLst>
          </p:cNvPr>
          <p:cNvSpPr txBox="1"/>
          <p:nvPr/>
        </p:nvSpPr>
        <p:spPr>
          <a:xfrm>
            <a:off x="346528" y="5347209"/>
            <a:ext cx="114989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>
                <a:solidFill>
                  <a:srgbClr val="404040"/>
                </a:solidFill>
              </a:defRPr>
            </a:pPr>
            <a:r>
              <a:rPr kumimoji="0" lang="en-SG" sz="16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MONAI Deploy DAG: DICOM Ingestion → Organ Segmentation → Lesion Segmentation → PI-RADS Classification → RTSTRUCT Export</a:t>
            </a:r>
          </a:p>
        </p:txBody>
      </p:sp>
    </p:spTree>
    <p:extLst>
      <p:ext uri="{BB962C8B-B14F-4D97-AF65-F5344CB8AC3E}">
        <p14:creationId xmlns:p14="http://schemas.microsoft.com/office/powerpoint/2010/main" val="1052990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69A9-B354-D530-19BC-E50A37FA7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Technical Implementation: Data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B20B0-5BE9-E660-C895-52D8A2A08005}"/>
              </a:ext>
            </a:extLst>
          </p:cNvPr>
          <p:cNvSpPr txBox="1"/>
          <p:nvPr/>
        </p:nvSpPr>
        <p:spPr>
          <a:xfrm>
            <a:off x="359227" y="1142774"/>
            <a:ext cx="11277295" cy="5029200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Multi-parametric MRI Inputs (</a:t>
            </a:r>
            <a:r>
              <a:rPr kumimoji="0" sz="2200" b="0" i="0" u="none" strike="noStrike" kern="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mpMRI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):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T2-weighted (anatomical detail)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ADC map (diffusion-derived)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High b-value DWI (lesion detection)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Automated Series Selection: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Regex-based DICOM tag matching (Modality,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ImageType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,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SeriesDescription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)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Robust across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ProstateX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and common site naming conventions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Standardization Pipeline: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RAS orientation alignment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Isotropic resampling (1.0mm organ, 0.5mm lesion)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Per-channel z-score normalization</a:t>
            </a:r>
          </a:p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• Output Generation: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</a:t>
            </a:r>
            <a:r>
              <a:rPr kumimoji="0" sz="1800" b="0" i="0" u="none" strike="noStrike" kern="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NIfTI</a:t>
            </a: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volumes for reproducibility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Multi-class masks</a:t>
            </a:r>
          </a:p>
          <a:p>
            <a:pPr marL="0" marR="0" lvl="1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sz="1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</a:rPr>
              <a:t>    ‣ DICOM RTSTRUCT for clinical integration</a:t>
            </a:r>
          </a:p>
        </p:txBody>
      </p:sp>
    </p:spTree>
    <p:extLst>
      <p:ext uri="{BB962C8B-B14F-4D97-AF65-F5344CB8AC3E}">
        <p14:creationId xmlns:p14="http://schemas.microsoft.com/office/powerpoint/2010/main" val="1192639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65DF-FF9B-3DB1-AE45-E0731626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7" y="317728"/>
            <a:ext cx="8535391" cy="825046"/>
          </a:xfrm>
        </p:spPr>
        <p:txBody>
          <a:bodyPr>
            <a:normAutofit fontScale="90000"/>
          </a:bodyPr>
          <a:lstStyle/>
          <a:p>
            <a:r>
              <a:rPr lang="en-US" dirty="0"/>
              <a:t>RRUNet3D - Residual Recurrent </a:t>
            </a:r>
            <a:r>
              <a:rPr lang="en-US" dirty="0" err="1"/>
              <a:t>UNet</a:t>
            </a:r>
            <a:r>
              <a:rPr lang="en-US" dirty="0"/>
              <a:t> for 3D Medical Image Segmentation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D2AFDE-47E7-EE01-1C67-629E7F2811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9227" y="1523218"/>
            <a:ext cx="5376634" cy="430371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B7876-CBCF-70C4-41D8-42C999F5899B}"/>
              </a:ext>
            </a:extLst>
          </p:cNvPr>
          <p:cNvSpPr txBox="1"/>
          <p:nvPr/>
        </p:nvSpPr>
        <p:spPr>
          <a:xfrm>
            <a:off x="6096000" y="1450482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B3B3B"/>
                </a:solidFill>
                <a:effectLst/>
                <a:latin typeface="Segoe WPC"/>
              </a:rPr>
              <a:t>RRUNet3D is a </a:t>
            </a:r>
            <a:r>
              <a:rPr lang="en-US" b="1" i="0" dirty="0">
                <a:solidFill>
                  <a:srgbClr val="3B3B3B"/>
                </a:solidFill>
                <a:effectLst/>
                <a:latin typeface="Segoe WPC"/>
              </a:rPr>
              <a:t>U-Net variant</a:t>
            </a:r>
            <a:r>
              <a:rPr lang="en-US" b="0" i="0" dirty="0">
                <a:solidFill>
                  <a:srgbClr val="3B3B3B"/>
                </a:solidFill>
                <a:effectLst/>
                <a:latin typeface="Segoe WPC"/>
              </a:rPr>
              <a:t> that combines </a:t>
            </a:r>
            <a:r>
              <a:rPr lang="en-US" b="1" i="0" dirty="0">
                <a:solidFill>
                  <a:srgbClr val="3B3B3B"/>
                </a:solidFill>
                <a:effectLst/>
                <a:latin typeface="Segoe WPC"/>
              </a:rPr>
              <a:t>residual connections</a:t>
            </a:r>
            <a:r>
              <a:rPr lang="en-US" b="0" i="0" dirty="0">
                <a:solidFill>
                  <a:srgbClr val="3B3B3B"/>
                </a:solidFill>
                <a:effectLst/>
                <a:latin typeface="Segoe WPC"/>
              </a:rPr>
              <a:t> and </a:t>
            </a:r>
            <a:r>
              <a:rPr lang="en-US" b="1" i="0" dirty="0">
                <a:solidFill>
                  <a:srgbClr val="3B3B3B"/>
                </a:solidFill>
                <a:effectLst/>
                <a:latin typeface="Segoe WPC"/>
              </a:rPr>
              <a:t>recurrent convolutions</a:t>
            </a:r>
            <a:r>
              <a:rPr lang="en-US" b="0" i="0" dirty="0">
                <a:solidFill>
                  <a:srgbClr val="3B3B3B"/>
                </a:solidFill>
                <a:effectLst/>
                <a:latin typeface="Segoe WPC"/>
              </a:rPr>
              <a:t> for improved feature learning in 3D medical image segmentation.</a:t>
            </a:r>
            <a:endParaRPr lang="en-SG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A6BFD4-5F61-9C70-D482-4AC46680D522}"/>
              </a:ext>
            </a:extLst>
          </p:cNvPr>
          <p:cNvGrpSpPr/>
          <p:nvPr/>
        </p:nvGrpSpPr>
        <p:grpSpPr>
          <a:xfrm>
            <a:off x="6096000" y="2473036"/>
            <a:ext cx="5303520" cy="3657600"/>
            <a:chOff x="6400800" y="1371600"/>
            <a:chExt cx="5303520" cy="365760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C30BD3-F168-3FBA-959B-24D8A0CB30B3}"/>
                </a:ext>
              </a:extLst>
            </p:cNvPr>
            <p:cNvSpPr txBox="1"/>
            <p:nvPr/>
          </p:nvSpPr>
          <p:spPr>
            <a:xfrm>
              <a:off x="6400800" y="1371600"/>
              <a:ext cx="530352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200" b="1">
                  <a:solidFill>
                    <a:srgbClr val="0070C0"/>
                  </a:solidFill>
                </a:defRPr>
              </a:pPr>
              <a:r>
                <a:rPr kumimoji="0" sz="22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rPr>
                <a:t>Key Components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57024D-020D-BD15-4E6C-EE6C92CB17DF}"/>
                </a:ext>
              </a:extLst>
            </p:cNvPr>
            <p:cNvSpPr/>
            <p:nvPr/>
          </p:nvSpPr>
          <p:spPr>
            <a:xfrm>
              <a:off x="6400800" y="1920240"/>
              <a:ext cx="2011680" cy="640080"/>
            </a:xfrm>
            <a:prstGeom prst="rect">
              <a:avLst/>
            </a:prstGeom>
            <a:solidFill>
              <a:srgbClr val="27AE6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1">
                  <a:solidFill>
                    <a:srgbClr val="FFFFFF"/>
                  </a:solidFill>
                </a:defRPr>
              </a:pPr>
              <a:r>
                <a: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Residual Blocks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FBCC6F2-326F-5AB7-6D5F-6067F228A329}"/>
                </a:ext>
              </a:extLst>
            </p:cNvPr>
            <p:cNvSpPr txBox="1"/>
            <p:nvPr/>
          </p:nvSpPr>
          <p:spPr>
            <a:xfrm>
              <a:off x="8595360" y="2057400"/>
              <a:ext cx="310896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>
                  <a:solidFill>
                    <a:srgbClr val="404040"/>
                  </a:solidFill>
                </a:defRPr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Improves gradient flow: x + Conv(Conv(x))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0E3C63-4F3D-CD42-46CE-94B8C6A58998}"/>
                </a:ext>
              </a:extLst>
            </p:cNvPr>
            <p:cNvSpPr/>
            <p:nvPr/>
          </p:nvSpPr>
          <p:spPr>
            <a:xfrm>
              <a:off x="6400800" y="2743200"/>
              <a:ext cx="2011680" cy="640080"/>
            </a:xfrm>
            <a:prstGeom prst="rect">
              <a:avLst/>
            </a:prstGeom>
            <a:solidFill>
              <a:srgbClr val="E67E22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1">
                  <a:solidFill>
                    <a:srgbClr val="FFFFFF"/>
                  </a:solidFill>
                </a:defRPr>
              </a:pPr>
              <a:r>
                <a: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Recurrent Blocks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D0D1A2-D664-F34B-0A58-C5FC82C77A0F}"/>
                </a:ext>
              </a:extLst>
            </p:cNvPr>
            <p:cNvSpPr txBox="1"/>
            <p:nvPr/>
          </p:nvSpPr>
          <p:spPr>
            <a:xfrm>
              <a:off x="8595360" y="2880360"/>
              <a:ext cx="310896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>
                  <a:solidFill>
                    <a:srgbClr val="404040"/>
                  </a:solidFill>
                </a:defRPr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Iterative refinement: x1 = Conv(x + x1)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C19593F-F830-FEB0-3248-A0F48FD4587A}"/>
                </a:ext>
              </a:extLst>
            </p:cNvPr>
            <p:cNvSpPr/>
            <p:nvPr/>
          </p:nvSpPr>
          <p:spPr>
            <a:xfrm>
              <a:off x="6400800" y="3566160"/>
              <a:ext cx="2011680" cy="640080"/>
            </a:xfrm>
            <a:prstGeom prst="rect">
              <a:avLst/>
            </a:prstGeom>
            <a:solidFill>
              <a:srgbClr val="0070C0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1">
                  <a:solidFill>
                    <a:srgbClr val="FFFFFF"/>
                  </a:solidFill>
                </a:defRPr>
              </a:pPr>
              <a:r>
                <a: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Skip Connections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3C98E5-3F03-59A2-DE2C-2853062F8B6C}"/>
                </a:ext>
              </a:extLst>
            </p:cNvPr>
            <p:cNvSpPr txBox="1"/>
            <p:nvPr/>
          </p:nvSpPr>
          <p:spPr>
            <a:xfrm>
              <a:off x="8595360" y="3703320"/>
              <a:ext cx="310896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>
                  <a:solidFill>
                    <a:srgbClr val="404040"/>
                  </a:solidFill>
                </a:defRPr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Preserve spatial details across levels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8DEE739-3618-E748-2BE0-D017A60B175A}"/>
                </a:ext>
              </a:extLst>
            </p:cNvPr>
            <p:cNvSpPr/>
            <p:nvPr/>
          </p:nvSpPr>
          <p:spPr>
            <a:xfrm>
              <a:off x="6400800" y="4389120"/>
              <a:ext cx="2011680" cy="640080"/>
            </a:xfrm>
            <a:prstGeom prst="rect">
              <a:avLst/>
            </a:prstGeom>
            <a:solidFill>
              <a:srgbClr val="8E44AD"/>
            </a:solidFill>
            <a:ln w="9525" cap="flat" cmpd="sng" algn="ctr">
              <a:noFill/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00" b="1">
                  <a:solidFill>
                    <a:srgbClr val="FFFFFF"/>
                  </a:solidFill>
                </a:defRPr>
              </a:pPr>
              <a:r>
                <a:rPr kumimoji="0" sz="11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Attention Gates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CA1A32A-3616-F602-80AF-819DA4577A48}"/>
                </a:ext>
              </a:extLst>
            </p:cNvPr>
            <p:cNvSpPr txBox="1"/>
            <p:nvPr/>
          </p:nvSpPr>
          <p:spPr>
            <a:xfrm>
              <a:off x="8595360" y="4526280"/>
              <a:ext cx="310896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200" b="0">
                  <a:solidFill>
                    <a:srgbClr val="404040"/>
                  </a:solidFill>
                </a:defRPr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Focus on relevant features (optional)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904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Forward Pass: From MRI to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High-Level Pipeline: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011680" cy="7315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Raw MRI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920240"/>
            <a:ext cx="201168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Learn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920240"/>
            <a:ext cx="201168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Understand 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920240"/>
            <a:ext cx="2011680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Precise Localization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1920240"/>
            <a:ext cx="2011680" cy="7315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4040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4040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4040"/>
                </a:solidFill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21031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04040"/>
                </a:solidFill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0C0"/>
                </a:solidFill>
              </a:defRPr>
            </a:pPr>
            <a:r>
              <a:t>5 Key Steps: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4040"/>
                </a:solidFill>
              </a:defRPr>
            </a:pPr>
            <a:r>
              <a:t>Input Conv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Downsample 2x, expand to 32 channels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566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→ Extracts initial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4040"/>
                </a:solidFill>
              </a:defRPr>
            </a:pPr>
            <a:r>
              <a:t>Encoder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069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4 levels, progressively compress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→ Builds hierarchical understanding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3657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4040"/>
                </a:solidFill>
              </a:defRPr>
            </a:pPr>
            <a:r>
              <a:t>Skip Connections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Save encoder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572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→ Preserves fine spatial details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74920"/>
            <a:ext cx="3657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074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4040"/>
                </a:solidFill>
              </a:defRPr>
            </a:pPr>
            <a:r>
              <a:t>Decoder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3 levels, progressively reconstruct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74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→ Combines 'what' with 'where'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577840"/>
            <a:ext cx="365760" cy="365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77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4040"/>
                </a:solidFill>
              </a:defRPr>
            </a:pPr>
            <a: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1x1 conv + Softmax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577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7AE60"/>
                </a:solidFill>
              </a:defRPr>
            </a:pPr>
            <a:r>
              <a:t>→ Per-voxel class probabilities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Complete Architecture: Visual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1463040" cy="9144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Input</a:t>
            </a:r>
            <a:br/>
            <a:r>
              <a:t>[T2,ADC,HIGHB]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</a:defRPr>
            </a:pPr>
            <a: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ENCODER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737360"/>
            <a:ext cx="9144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L1-32ch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286000"/>
            <a:ext cx="82296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L2-64ch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834640"/>
            <a:ext cx="7315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L3-128ch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383280"/>
            <a:ext cx="6400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L4-256ch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7AE60"/>
                </a:solidFill>
              </a:defRPr>
            </a:pPr>
            <a:r>
              <a:t>───────────────────→ skip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CC71"/>
                </a:solidFill>
              </a:defRPr>
            </a:pPr>
            <a:r>
              <a:t>─────────────────→ skip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7E22"/>
                </a:solidFill>
              </a:defRPr>
            </a:pPr>
            <a:r>
              <a:t>────────────→ skip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023360"/>
            <a:ext cx="54864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04040"/>
                </a:solidFill>
              </a:defRPr>
            </a:pPr>
            <a:r>
              <a:t>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371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0C0"/>
                </a:solidFill>
              </a:defRPr>
            </a:pPr>
            <a:r>
              <a:t>DECODER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737360"/>
            <a:ext cx="9144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L1-32ch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286000"/>
            <a:ext cx="822960" cy="4572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L2-64ch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834640"/>
            <a:ext cx="73152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L3-128ch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645920"/>
            <a:ext cx="1188720" cy="9144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Output</a:t>
            </a:r>
            <a:br/>
            <a:r>
              <a:t>Conv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04040"/>
                </a:solidFill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66960" y="1645920"/>
            <a:ext cx="1645920" cy="914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Segmentation</a:t>
            </a:r>
            <a:br/>
            <a:r>
              <a:t>Mask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0C0"/>
                </a:solidFill>
              </a:defRPr>
            </a:pPr>
            <a:r>
              <a:t>Key Insights: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029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Encoder learns 'WHAT'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292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— progressively understands: pixels → textures → shapes → organs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40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Decoder learns 'WHERE'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440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— reconstructs precise spatial boundaries from abstract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</a:defRPr>
            </a:pPr>
            <a:r>
              <a:t>Skip connections bridge both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8521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— combines semantic understanding with spatial precision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solidFill>
            <a:srgbClr val="00B050"/>
          </a:solidFill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RRUNet3D for Prostate MRI?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</a:defRPr>
            </a:pPr>
            <a:r>
              <a:rPr dirty="0">
                <a:solidFill>
                  <a:srgbClr val="00B050"/>
                </a:solidFill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371600"/>
            <a:ext cx="60350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0C0"/>
                </a:solidFill>
              </a:defRPr>
            </a:pPr>
            <a:r>
              <a:rPr dirty="0">
                <a:solidFill>
                  <a:srgbClr val="00B050"/>
                </a:solidFill>
              </a:rPr>
              <a:t>How </a:t>
            </a:r>
            <a:r>
              <a:rPr dirty="0" err="1">
                <a:solidFill>
                  <a:srgbClr val="00B050"/>
                </a:solidFill>
              </a:rPr>
              <a:t>RRUNet</a:t>
            </a:r>
            <a:r>
              <a:rPr dirty="0">
                <a:solidFill>
                  <a:srgbClr val="00B050"/>
                </a:solidFill>
              </a:rPr>
              <a:t> Solves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3716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Small lesions (few mm)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19202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Multi-scale encoder detects features at different sizes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37160" cy="5029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Fuzzy tissue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5603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Skip connections preserve edge information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13716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3D spatial relationships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004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Native 3D convolutions (not slice-by-slice)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137160" cy="5029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Multiple tissue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8404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Multi-channel input captures complementary contrast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3716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Class imbalance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4805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Softmax + Dice loss ensures all classes predicted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137160" cy="5029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Need for 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1206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04040"/>
                </a:solidFill>
              </a:defRPr>
            </a:pPr>
            <a:r>
              <a:t>5-fold ensemble averages out individual model errors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11277295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Summary: RRUNet3D is designed for the specific challenges of 3D medical image segmentation - it captures multi-scale features, preserves spatial precision through skip connections, and processes volumetric data natively.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3F9C-9EAF-83FA-ABA9-5D02F7C2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Stage 1: Organ Segmentation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24CF292-88DF-57F3-2B4D-3F61F81E0B9C}"/>
              </a:ext>
            </a:extLst>
          </p:cNvPr>
          <p:cNvGrpSpPr/>
          <p:nvPr/>
        </p:nvGrpSpPr>
        <p:grpSpPr>
          <a:xfrm>
            <a:off x="457200" y="1280160"/>
            <a:ext cx="11064240" cy="5029200"/>
            <a:chOff x="457200" y="1280160"/>
            <a:chExt cx="11064240" cy="502920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00E00B8-CD77-275A-846B-1AAD80DA7A5A}"/>
                </a:ext>
              </a:extLst>
            </p:cNvPr>
            <p:cNvSpPr txBox="1"/>
            <p:nvPr/>
          </p:nvSpPr>
          <p:spPr>
            <a:xfrm>
              <a:off x="457200" y="1280160"/>
              <a:ext cx="5303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70C0"/>
                  </a:solidFill>
                </a:defRPr>
              </a:pPr>
              <a:r>
                <a:rPr kumimoji="0" sz="2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rPr>
                <a:t>Architecture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39C147-63FE-04E8-2A20-B977503DBEEE}"/>
                </a:ext>
              </a:extLst>
            </p:cNvPr>
            <p:cNvSpPr txBox="1"/>
            <p:nvPr/>
          </p:nvSpPr>
          <p:spPr>
            <a:xfrm>
              <a:off x="457200" y="1737360"/>
              <a:ext cx="5303520" cy="340606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Input: T2-weighted MRI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Model: RRUNet3D (Residual Recurrent)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</a:t>
              </a: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Output: 3-class segmentation: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Background (0)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Transition Zone - TZ (1)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Peripheral Zone - PZ (2)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Resolution: 1.0mm isotropic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Inference: Sliding window (128×128×16)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Overlap: 50%, Gaussian blending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A1F8EC-A1B2-E913-6283-A3CE1134B2D1}"/>
                </a:ext>
              </a:extLst>
            </p:cNvPr>
            <p:cNvSpPr txBox="1"/>
            <p:nvPr/>
          </p:nvSpPr>
          <p:spPr>
            <a:xfrm>
              <a:off x="6217920" y="1280160"/>
              <a:ext cx="5303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70C0"/>
                  </a:solidFill>
                </a:defRPr>
              </a:pPr>
              <a:r>
                <a:rPr kumimoji="0" sz="2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rPr>
                <a:t>Processing Pipeline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DF87414-B2AB-74A4-F992-DBD61D2E1D72}"/>
                </a:ext>
              </a:extLst>
            </p:cNvPr>
            <p:cNvSpPr txBox="1"/>
            <p:nvPr/>
          </p:nvSpPr>
          <p:spPr>
            <a:xfrm>
              <a:off x="6217920" y="1737360"/>
              <a:ext cx="530352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Preprocessing: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Channel-first tensor format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RAS orientation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- 1.0mm isotropic resampling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Z-score normalization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Post-processing: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Softmax activation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Argmax with threshold=None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Multi-class mask preservation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414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3F9C-9EAF-83FA-ABA9-5D02F7C2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Stage 2: Lesion Segmentation (5-Fold Ensemble)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073E0FE-383E-1FD9-D999-684BE2F2754E}"/>
              </a:ext>
            </a:extLst>
          </p:cNvPr>
          <p:cNvGrpSpPr/>
          <p:nvPr/>
        </p:nvGrpSpPr>
        <p:grpSpPr>
          <a:xfrm>
            <a:off x="457200" y="1280160"/>
            <a:ext cx="11064240" cy="5029200"/>
            <a:chOff x="457200" y="1280160"/>
            <a:chExt cx="11064240" cy="502920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87617F8-2D99-BA69-E266-2E368EAE2F1B}"/>
                </a:ext>
              </a:extLst>
            </p:cNvPr>
            <p:cNvSpPr txBox="1"/>
            <p:nvPr/>
          </p:nvSpPr>
          <p:spPr>
            <a:xfrm>
              <a:off x="457200" y="1280160"/>
              <a:ext cx="5303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70C0"/>
                  </a:solidFill>
                </a:defRPr>
              </a:pPr>
              <a:r>
                <a:rPr kumimoji="0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rPr>
                <a:t>Architecture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B48E97-8735-CF39-5AFA-10BD1E95DF9B}"/>
                </a:ext>
              </a:extLst>
            </p:cNvPr>
            <p:cNvSpPr txBox="1"/>
            <p:nvPr/>
          </p:nvSpPr>
          <p:spPr>
            <a:xfrm>
              <a:off x="457200" y="1737360"/>
              <a:ext cx="5303520" cy="264687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Input: T2 + ADC + HIGHB (3 channels)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Model: </a:t>
              </a: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5-fold </a:t>
              </a: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RRUNet3D ensemble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Output: </a:t>
              </a: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Binary</a:t>
              </a: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 lesion mask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Resolution: 0.5mm isotropic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</a:t>
              </a: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ROI Cropping: Organ mask + 32-voxel margin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Parallel inference across folds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</a:t>
              </a:r>
              <a:r>
                <a:rPr kumimoji="0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Probability averaging + thresholding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B8EAA3-1F74-0E76-CD5B-284C13F81051}"/>
                </a:ext>
              </a:extLst>
            </p:cNvPr>
            <p:cNvSpPr txBox="1"/>
            <p:nvPr/>
          </p:nvSpPr>
          <p:spPr>
            <a:xfrm>
              <a:off x="6217920" y="1280160"/>
              <a:ext cx="5303520" cy="4572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000" b="1">
                  <a:solidFill>
                    <a:srgbClr val="0070C0"/>
                  </a:solidFill>
                </a:defRPr>
              </a:pPr>
              <a:r>
                <a:rPr kumimoji="0" sz="2000" b="1" i="0" u="none" strike="noStrike" kern="0" cap="none" spc="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</a:rPr>
                <a:t>Design Rationale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1752B5-DF86-56F9-4576-93FA0D499022}"/>
                </a:ext>
              </a:extLst>
            </p:cNvPr>
            <p:cNvSpPr txBox="1"/>
            <p:nvPr/>
          </p:nvSpPr>
          <p:spPr>
            <a:xfrm>
              <a:off x="6217920" y="1737360"/>
              <a:ext cx="5303520" cy="4572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Key Design Decisions: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Multi-parametric input captures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  complementary tissue properties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Ensemble improves robustness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- Organ-masked inference reduces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     false positives outside prostate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Threshold: 0.6345 (optimized)</a:t>
              </a:r>
            </a:p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  <a:defRPr sz="1800">
                  <a:solidFill>
                    <a:srgbClr val="404040"/>
                  </a:solidFill>
                </a:defRPr>
              </a:pPr>
              <a:r>
                <a: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404040"/>
                  </a:solidFill>
                  <a:effectLst/>
                  <a:uLnTx/>
                  <a:uFillTx/>
                </a:rPr>
                <a:t>• Post-multiply by organ mask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3632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23F9C-9EAF-83FA-ABA9-5D02F7C2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Stage 3: PI-RADS Classification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560FCB-86A3-83C7-EA1D-AFA1CEC0927F}"/>
              </a:ext>
            </a:extLst>
          </p:cNvPr>
          <p:cNvSpPr txBox="1"/>
          <p:nvPr/>
        </p:nvSpPr>
        <p:spPr>
          <a:xfrm>
            <a:off x="436418" y="1456869"/>
            <a:ext cx="11087100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Model: 3D </a:t>
            </a:r>
            <a:r>
              <a:rPr kumimoji="0" lang="en-SG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ResNet</a:t>
            </a: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(</a:t>
            </a:r>
            <a:r>
              <a:rPr kumimoji="0" lang="en-SG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BasicBlock</a:t>
            </a: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[32,64,128,256] channels)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Input: 64×64×64 crops </a:t>
            </a:r>
            <a:r>
              <a:rPr kumimoji="0" lang="en-SG" sz="22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centered</a:t>
            </a: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each lesion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Output: 4-class prediction → PI-RADS 2, 3, 4, 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Rule-based Adjustment: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‣ If predicted PI-RADS 4 AND major axis &gt; 40mm → Upgrade to PI-RADS 5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‣ Aligns with clinical size criteria for significant lesions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 sz="2200">
                <a:solidFill>
                  <a:srgbClr val="404040"/>
                </a:solidFill>
              </a:defRPr>
            </a:pPr>
            <a:r>
              <a:rPr kumimoji="0" lang="en-SG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• Final Report (lesions.txt):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‣ Per-lesion: ID, PI-RADS score, major axis (mm), volume (mm³)</a:t>
            </a:r>
          </a:p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lang="en-SG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‣ Organ statistics for context</a:t>
            </a:r>
          </a:p>
        </p:txBody>
      </p:sp>
    </p:spTree>
    <p:extLst>
      <p:ext uri="{BB962C8B-B14F-4D97-AF65-F5344CB8AC3E}">
        <p14:creationId xmlns:p14="http://schemas.microsoft.com/office/powerpoint/2010/main" val="163023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B05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614046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Segmentation Output </a:t>
            </a:r>
            <a:r>
              <a:rPr dirty="0" err="1"/>
              <a:t>Visuali</a:t>
            </a:r>
            <a:r>
              <a:rPr lang="en-SG" dirty="0"/>
              <a:t>s</a:t>
            </a:r>
            <a:r>
              <a:rPr dirty="0" err="1"/>
              <a:t>ation</a:t>
            </a:r>
            <a:endParaRPr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B10D802-C4C6-B4C1-C00B-B90560DD2438}"/>
              </a:ext>
            </a:extLst>
          </p:cNvPr>
          <p:cNvGrpSpPr/>
          <p:nvPr/>
        </p:nvGrpSpPr>
        <p:grpSpPr>
          <a:xfrm>
            <a:off x="441983" y="2005445"/>
            <a:ext cx="11457340" cy="3949854"/>
            <a:chOff x="457200" y="1371600"/>
            <a:chExt cx="10972800" cy="3252447"/>
          </a:xfrm>
        </p:grpSpPr>
        <p:pic>
          <p:nvPicPr>
            <p:cNvPr id="4" name="Picture 3" descr="anson_organ_seg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7200" y="1371600"/>
              <a:ext cx="3657600" cy="2305733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131798" y="3838402"/>
              <a:ext cx="1664168" cy="7856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>
                  <a:solidFill>
                    <a:srgbClr val="404040"/>
                  </a:solidFill>
                </a:defRPr>
              </a:pPr>
              <a:r>
                <a:rPr dirty="0"/>
                <a:t>Organ Segmentation</a:t>
              </a:r>
              <a:br>
                <a:rPr dirty="0"/>
              </a:br>
              <a:r>
                <a:rPr dirty="0"/>
                <a:t>(TZ/PZ)</a:t>
              </a:r>
              <a:endParaRPr lang="en-SG" dirty="0"/>
            </a:p>
            <a:p>
              <a:pPr algn="ctr">
                <a:defRPr sz="1400" b="1">
                  <a:solidFill>
                    <a:srgbClr val="404040"/>
                  </a:solidFill>
                </a:defRPr>
              </a:pPr>
              <a:endParaRPr lang="en-SG" dirty="0"/>
            </a:p>
            <a:p>
              <a:pPr algn="ctr">
                <a:defRPr sz="1400" b="1">
                  <a:solidFill>
                    <a:srgbClr val="404040"/>
                  </a:solidFill>
                </a:defRPr>
              </a:pPr>
              <a:r>
                <a:rPr lang="en-SG" dirty="0"/>
                <a:t>Validation DICE: 0.76</a:t>
              </a:r>
              <a:endParaRPr dirty="0"/>
            </a:p>
          </p:txBody>
        </p:sp>
        <p:pic>
          <p:nvPicPr>
            <p:cNvPr id="6" name="Picture 5" descr="anson_all_seg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0" y="1371600"/>
              <a:ext cx="3657600" cy="230573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5277349" y="3838402"/>
              <a:ext cx="1332501" cy="7856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>
                  <a:solidFill>
                    <a:srgbClr val="404040"/>
                  </a:solidFill>
                </a:defRPr>
              </a:pPr>
              <a:r>
                <a:rPr dirty="0"/>
                <a:t>Combined View</a:t>
              </a:r>
              <a:br>
                <a:rPr dirty="0"/>
              </a:br>
              <a:r>
                <a:rPr dirty="0"/>
                <a:t>(Organ + Lesion)</a:t>
              </a:r>
              <a:endParaRPr lang="en-SG" dirty="0"/>
            </a:p>
            <a:p>
              <a:pPr algn="ctr">
                <a:defRPr sz="1400" b="1">
                  <a:solidFill>
                    <a:srgbClr val="404040"/>
                  </a:solidFill>
                </a:defRPr>
              </a:pPr>
              <a:endParaRPr lang="en-SG" dirty="0"/>
            </a:p>
            <a:p>
              <a:pPr algn="ctr">
                <a:defRPr sz="1400" b="1">
                  <a:solidFill>
                    <a:srgbClr val="404040"/>
                  </a:solidFill>
                </a:defRPr>
              </a:pPr>
              <a:endParaRPr dirty="0"/>
            </a:p>
          </p:txBody>
        </p:sp>
        <p:pic>
          <p:nvPicPr>
            <p:cNvPr id="8" name="Picture 7" descr="anson_lesion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00" y="1371600"/>
              <a:ext cx="3657600" cy="2305733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8841851" y="3838402"/>
              <a:ext cx="1664168" cy="78564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1400" b="1">
                  <a:solidFill>
                    <a:srgbClr val="404040"/>
                  </a:solidFill>
                </a:defRPr>
              </a:pPr>
              <a:r>
                <a:rPr dirty="0"/>
                <a:t>Lesion Detection</a:t>
              </a:r>
              <a:endParaRPr lang="en-SG" dirty="0"/>
            </a:p>
            <a:p>
              <a:pPr algn="ctr">
                <a:defRPr sz="1400" b="1">
                  <a:solidFill>
                    <a:srgbClr val="404040"/>
                  </a:solidFill>
                </a:defRPr>
              </a:pPr>
              <a:r>
                <a:rPr lang="en-SG" dirty="0"/>
                <a:t>(RTSTRUCT Format)</a:t>
              </a:r>
            </a:p>
            <a:p>
              <a:pPr algn="ctr">
                <a:defRPr sz="1400" b="1">
                  <a:solidFill>
                    <a:srgbClr val="404040"/>
                  </a:solidFill>
                </a:defRPr>
              </a:pPr>
              <a:endParaRPr lang="en-SG" dirty="0"/>
            </a:p>
            <a:p>
              <a:pPr algn="ctr">
                <a:defRPr sz="1400" b="1">
                  <a:solidFill>
                    <a:srgbClr val="404040"/>
                  </a:solidFill>
                </a:defRPr>
              </a:pPr>
              <a:r>
                <a:rPr lang="en-SG" dirty="0"/>
                <a:t>Validation DICE: 0.36</a:t>
              </a:r>
              <a:endParaRPr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dirty="0"/>
              <a:t>Preliminary Results (Open-Source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dirty="0"/>
              <a:t>Quantitative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41269"/>
            <a:ext cx="530352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Organ Segmentation (TZ/PZ):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Fold-0 Dice: ~0.73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Multi-fold average: ~0.73-0.80</a:t>
            </a:r>
            <a:endParaRPr lang="en-SG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RTSTRUCT export verified on </a:t>
            </a:r>
            <a:r>
              <a:rPr dirty="0" err="1"/>
              <a:t>ProstateX</a:t>
            </a:r>
            <a:endParaRPr lang="en-SG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3D Slicer overlap validation passed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Development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Lesion Segmentation: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5-fold ensemble implemented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RRUNet3D</a:t>
            </a:r>
            <a:endParaRPr lang="en-SG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dirty="0"/>
              <a:t>Organ-masked inference reduces FP</a:t>
            </a:r>
            <a:endParaRPr lang="en-SG" dirty="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404040"/>
                </a:solidFill>
              </a:defRPr>
            </a:pPr>
            <a:r>
              <a:rPr lang="en-SG" dirty="0"/>
              <a:t>Approx 0.36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C7921-B9AF-852C-2859-A7C051E558A0}"/>
              </a:ext>
            </a:extLst>
          </p:cNvPr>
          <p:cNvSpPr txBox="1"/>
          <p:nvPr/>
        </p:nvSpPr>
        <p:spPr>
          <a:xfrm>
            <a:off x="2775412" y="4449326"/>
            <a:ext cx="6094268" cy="112851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Important Note: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on open-source data only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 sz="1800">
                <a:solidFill>
                  <a:srgbClr val="404040"/>
                </a:solidFill>
              </a:defRPr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SGH clinical data training pending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Timeline (SGH Innovation Grant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Oct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1371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IRB Exemption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3716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000"/>
                </a:solidFill>
              </a:defRPr>
            </a:pPr>
            <a:r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Dec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116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Establish Partnership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2011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000"/>
                </a:solidFill>
              </a:defRPr>
            </a:pPr>
            <a:r>
              <a:t>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Jan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6517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SGH Data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IN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3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Jan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29183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Onboard NIH Model to CARPL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29183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0C0"/>
                </a:solidFill>
              </a:defRPr>
            </a:pPr>
            <a: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Mar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9319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Biobot UroFusion Import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</a:defRPr>
            </a:pPr>
            <a:r>
              <a:t>PLANNED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Jun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Generate &amp; Refine Contours (Dataset)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5720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</a:defRPr>
            </a:pPr>
            <a:r>
              <a:t>PLANNED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21207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Aug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21207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Train SGH-Optimized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21207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04040"/>
                </a:solidFill>
              </a:defRPr>
            </a:pPr>
            <a:r>
              <a:t>PLANNED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5215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04040"/>
                </a:solidFill>
              </a:defRPr>
            </a:pPr>
            <a:r>
              <a:t>Sep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852159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Trial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585215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0000"/>
                </a:solidFill>
              </a:defRPr>
            </a:pPr>
            <a:r>
              <a:t>TARGET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6649C1-54BB-4B83-DD05-5D685902B19C}"/>
              </a:ext>
            </a:extLst>
          </p:cNvPr>
          <p:cNvSpPr/>
          <p:nvPr/>
        </p:nvSpPr>
        <p:spPr>
          <a:xfrm>
            <a:off x="270164" y="2566555"/>
            <a:ext cx="11242963" cy="1097280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3035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 </a:t>
            </a:r>
            <a:r>
              <a:rPr b="1" dirty="0"/>
              <a:t>Immediate (Jan-Mar 2026):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Complete SGH data extraction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Deploy NIH baseline on CARPL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Validate series selection on SGH data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Establish radiologist annotation workflow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b="1" dirty="0"/>
              <a:t>Short-term (Mar-Jun 2026):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</a:t>
            </a:r>
            <a:r>
              <a:rPr lang="en-SG" dirty="0" err="1"/>
              <a:t>Biobot</a:t>
            </a:r>
            <a:r>
              <a:rPr lang="en-SG" dirty="0"/>
              <a:t> </a:t>
            </a:r>
            <a:r>
              <a:rPr lang="en-SG" dirty="0" err="1"/>
              <a:t>UroFusion</a:t>
            </a:r>
            <a:r>
              <a:rPr lang="en-SG" dirty="0"/>
              <a:t> integration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lang="en-SG" dirty="0"/>
              <a:t>•    Generate preliminary contours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Radiologist refinement (curated dataset)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28016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t>Success Criteria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53035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b="1" dirty="0"/>
              <a:t>Medium-term (Jun-Sep 2026):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Train SGH-optimized model on CHROMA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Validate on held-out test set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Performance benchmarking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b="1" dirty="0"/>
              <a:t>Target Outcomes: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Contouring time: 16 min → 5 min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Seamless PACS integration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Radiologist-approved contours</a:t>
            </a:r>
          </a:p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rPr dirty="0"/>
              <a:t>•    Trial deployment by Sep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567E47-2498-9E19-F65B-7467802F4019}"/>
              </a:ext>
            </a:extLst>
          </p:cNvPr>
          <p:cNvGrpSpPr/>
          <p:nvPr/>
        </p:nvGrpSpPr>
        <p:grpSpPr>
          <a:xfrm>
            <a:off x="1198416" y="4212007"/>
            <a:ext cx="4773632" cy="638270"/>
            <a:chOff x="1139282" y="4648202"/>
            <a:chExt cx="5920350" cy="791595"/>
          </a:xfrm>
        </p:grpSpPr>
        <p:pic>
          <p:nvPicPr>
            <p:cNvPr id="3" name="Picture 2" descr="D:\Jerry New\SGH Template\SGH Template\logosandtaglines\logo.png">
              <a:extLst>
                <a:ext uri="{FF2B5EF4-FFF2-40B4-BE49-F238E27FC236}">
                  <a16:creationId xmlns:a16="http://schemas.microsoft.com/office/drawing/2014/main" id="{2D14E31A-3496-F636-B72E-005745C41F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9282" y="4648202"/>
              <a:ext cx="2743519" cy="7701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2956C2-65C1-8B67-CE8D-D59739051BDE}"/>
                </a:ext>
              </a:extLst>
            </p:cNvPr>
            <p:cNvCxnSpPr/>
            <p:nvPr/>
          </p:nvCxnSpPr>
          <p:spPr>
            <a:xfrm>
              <a:off x="4155645" y="4669686"/>
              <a:ext cx="0" cy="770111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1AB0B781-06CB-947E-E394-2357F9B00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4140" y="4687809"/>
              <a:ext cx="2605492" cy="711249"/>
            </a:xfrm>
            <a:prstGeom prst="rect">
              <a:avLst/>
            </a:prstGeom>
          </p:spPr>
        </p:pic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41961CD6-82D0-DDD5-A99E-C60446E74FB9}"/>
              </a:ext>
            </a:extLst>
          </p:cNvPr>
          <p:cNvSpPr txBox="1">
            <a:spLocks/>
          </p:cNvSpPr>
          <p:nvPr/>
        </p:nvSpPr>
        <p:spPr>
          <a:xfrm>
            <a:off x="1066800" y="1689100"/>
            <a:ext cx="3791270" cy="85725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u="none" kern="1200">
                <a:solidFill>
                  <a:srgbClr val="0066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55A191-C5D6-9848-6C25-5A2FCDDBA8F1}"/>
              </a:ext>
            </a:extLst>
          </p:cNvPr>
          <p:cNvSpPr txBox="1"/>
          <p:nvPr/>
        </p:nvSpPr>
        <p:spPr>
          <a:xfrm>
            <a:off x="1198416" y="2583969"/>
            <a:ext cx="7311739" cy="15308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078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1952</Words>
  <Application>Microsoft Office PowerPoint</Application>
  <PresentationFormat>Widescreen</PresentationFormat>
  <Paragraphs>287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Albert Sans Medium</vt:lpstr>
      <vt:lpstr>Segoe WPC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Problem Statement: Clinical Workflow Challenge </vt:lpstr>
      <vt:lpstr>Project Objectives </vt:lpstr>
      <vt:lpstr>Solution Architecture: End-to-End Pipeline</vt:lpstr>
      <vt:lpstr>Technical Implementation: Data Pipeline</vt:lpstr>
      <vt:lpstr>RRUNet3D - Residual Recurrent UNet for 3D Medical Image Segmentation</vt:lpstr>
      <vt:lpstr>PowerPoint Presentation</vt:lpstr>
      <vt:lpstr>PowerPoint Presentation</vt:lpstr>
      <vt:lpstr>PowerPoint Presentation</vt:lpstr>
      <vt:lpstr>Stage 1: Organ Segmentation </vt:lpstr>
      <vt:lpstr>Stage 2: Lesion Segmentation (5-Fold Ensemble)</vt:lpstr>
      <vt:lpstr>Stage 3: PI-RADS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SingHealth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Chua Tse Lert (SingHealth - SGH)</dc:creator>
  <cp:lastModifiedBy>Anson Phua</cp:lastModifiedBy>
  <cp:revision>31</cp:revision>
  <dcterms:created xsi:type="dcterms:W3CDTF">2023-12-29T07:57:27Z</dcterms:created>
  <dcterms:modified xsi:type="dcterms:W3CDTF">2026-02-02T16:14:36Z</dcterms:modified>
</cp:coreProperties>
</file>