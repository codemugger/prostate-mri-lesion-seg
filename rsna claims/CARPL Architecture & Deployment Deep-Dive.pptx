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000"/>
            <a:ext cx="12192000" cy="80000"/>
          </a:xfrm>
          <a:prstGeom prst="rect">
            <a:avLst/>
          </a:prstGeom>
          <a:solidFill>
            <a:srgbClr val="E07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000" y="16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CARPL Architecture &amp; Deployment Deep-Dive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500000"/>
            <a:ext cx="10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CCDDDD"/>
                </a:solidFill>
              </a:rPr>
              <a:t>MRI Prostate Segmentation Assistant (MRI PSA)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45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AABBBB"/>
                </a:solidFill>
              </a:rPr>
              <a:t>SGH Department of Data Science &amp; Diagnostic Radiology</a:t>
            </a:r>
          </a:p>
          <a:p>
            <a:r>
              <a:rPr sz="1400">
                <a:solidFill>
                  <a:srgbClr val="AABBBB"/>
                </a:solidFill>
              </a:rPr>
              <a:t>February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Oval 3"/>
          <p:cNvSpPr/>
          <p:nvPr/>
        </p:nvSpPr>
        <p:spPr>
          <a:xfrm>
            <a:off x="500000" y="1400000"/>
            <a:ext cx="450000" cy="450000"/>
          </a:xfrm>
          <a:prstGeom prst="ellipse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1430000"/>
            <a:ext cx="10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4444"/>
                </a:solidFill>
              </a:rPr>
              <a:t>What is CARPL?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1680000"/>
            <a:ext cx="10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99999"/>
                </a:solidFill>
              </a:rPr>
              <a:t>Platform overview, capabilities, and why it matters</a:t>
            </a:r>
          </a:p>
        </p:txBody>
      </p:sp>
      <p:sp>
        <p:nvSpPr>
          <p:cNvPr id="7" name="Oval 6"/>
          <p:cNvSpPr/>
          <p:nvPr/>
        </p:nvSpPr>
        <p:spPr>
          <a:xfrm>
            <a:off x="500000" y="2400000"/>
            <a:ext cx="450000" cy="450000"/>
          </a:xfrm>
          <a:prstGeom prst="ellipse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2430000"/>
            <a:ext cx="10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4444"/>
                </a:solidFill>
              </a:rPr>
              <a:t>SGH Architecture &amp; Data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000" y="2680000"/>
            <a:ext cx="10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99999"/>
                </a:solidFill>
              </a:rPr>
              <a:t>RAPIER, CARPL, CHROMA, Biobot Mona Lisa, UroFusion - how it all connects</a:t>
            </a:r>
          </a:p>
        </p:txBody>
      </p:sp>
      <p:sp>
        <p:nvSpPr>
          <p:cNvPr id="10" name="Oval 9"/>
          <p:cNvSpPr/>
          <p:nvPr/>
        </p:nvSpPr>
        <p:spPr>
          <a:xfrm>
            <a:off x="500000" y="3400000"/>
            <a:ext cx="450000" cy="450000"/>
          </a:xfrm>
          <a:prstGeom prst="ellipse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00" y="3430000"/>
            <a:ext cx="10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4444"/>
                </a:solidFill>
              </a:rPr>
              <a:t>MRI PSA Pipeline Deep-Dive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000" y="3680000"/>
            <a:ext cx="10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99999"/>
                </a:solidFill>
              </a:rPr>
              <a:t>End-to-end data journey from PACS to biopsy planning</a:t>
            </a:r>
          </a:p>
        </p:txBody>
      </p:sp>
      <p:sp>
        <p:nvSpPr>
          <p:cNvPr id="13" name="Oval 12"/>
          <p:cNvSpPr/>
          <p:nvPr/>
        </p:nvSpPr>
        <p:spPr>
          <a:xfrm>
            <a:off x="500000" y="4400000"/>
            <a:ext cx="450000" cy="450000"/>
          </a:xfrm>
          <a:prstGeom prst="ellipse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000" y="4430000"/>
            <a:ext cx="10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4444"/>
                </a:solidFill>
              </a:rPr>
              <a:t>Deployment &amp; MLOps Considerations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00" y="4680000"/>
            <a:ext cx="10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99999"/>
                </a:solidFill>
              </a:rPr>
              <a:t>Monitoring, retraining, versioning, and operational concerns</a:t>
            </a:r>
          </a:p>
        </p:txBody>
      </p:sp>
      <p:sp>
        <p:nvSpPr>
          <p:cNvPr id="16" name="Oval 15"/>
          <p:cNvSpPr/>
          <p:nvPr/>
        </p:nvSpPr>
        <p:spPr>
          <a:xfrm>
            <a:off x="500000" y="5400000"/>
            <a:ext cx="450000" cy="450000"/>
          </a:xfrm>
          <a:prstGeom prst="ellipse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00" y="5430000"/>
            <a:ext cx="10000000" cy="2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4444"/>
                </a:solidFill>
              </a:rPr>
              <a:t>Questions for CARPL &amp; Radiology Teams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000" y="5680000"/>
            <a:ext cx="10000000" cy="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99999"/>
                </a:solidFill>
              </a:rPr>
              <a:t>Critical unknowns for deployment 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0000" y="2200000"/>
            <a:ext cx="105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>
                <a:solidFill>
                  <a:srgbClr val="AADDDD"/>
                </a:solidFill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800000"/>
            <a:ext cx="105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What is CARPL?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900000"/>
            <a:ext cx="10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CEEEE"/>
                </a:solidFill>
              </a:rPr>
              <a:t>Clinical AI Research &amp; Production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CARPL: Clinical AI Research &amp; Production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1277295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6666"/>
                </a:solidFill>
              </a:rPr>
              <a:t>What is CARPL?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127729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</a:rPr>
              <a:t>CARPL is a cloud-based radiology AI platform that enables hospitals to: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Evaluate, deploy, and manage AI models in clinical radiology workflows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Integrate with hospital PACS/RIS systems for seamless data routing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Provide a standardised environment for AI model lifecycle management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Support DICOM-native input/output for clinical compatibility</a:t>
            </a:r>
          </a:p>
          <a:p>
            <a:endParaRPr sz="1500">
              <a:solidFill>
                <a:srgbClr val="000000"/>
              </a:solidFill>
            </a:endParaRPr>
          </a:p>
          <a:p>
            <a:r>
              <a:rPr sz="1700" b="1">
                <a:solidFill>
                  <a:srgbClr val="006666"/>
                </a:solidFill>
              </a:rPr>
              <a:t>Key Capabilities: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Model Deployment: Containerised AI model hosting (Docker/MAP containers)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Data Routing: Automated DICOM routing from PACS to AI models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Results Delivery: AI outputs pushed back to PACS/clinical viewers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Model Registry: Version-controlled model storage and deployment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Monitoring Dashboard: Track model performance and usage metrics</a:t>
            </a:r>
          </a:p>
          <a:p>
            <a:pPr lvl="1"/>
            <a:r>
              <a:rPr sz="1500">
                <a:solidFill>
                  <a:srgbClr val="000000"/>
                </a:solidFill>
              </a:rPr>
              <a:t>• Multi-model Support: Run multiple AI models simultaneously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Why CARPL Matters for SGH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00000"/>
            <a:ext cx="3400000" cy="50000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Without CARPL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000"/>
            <a:ext cx="3400000" cy="4200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Manual model deployment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No standardised pipeline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Difficult PACS integration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No monitoring/logging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Slow iteration cycles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Compliance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57200" y="1400000"/>
            <a:ext cx="3400000" cy="50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With CARPL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57200" y="1920000"/>
            <a:ext cx="3400000" cy="4200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Automated deployment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Standardised Docker/MAP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Native DICOM routing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Built-in monitoring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Rapid model updates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Audit trail &amp;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57200" y="1400000"/>
            <a:ext cx="3400000" cy="500000"/>
          </a:xfrm>
          <a:prstGeom prst="roundRect">
            <a:avLst/>
          </a:prstGeom>
          <a:solidFill>
            <a:srgbClr val="33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For MRI PSA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57200" y="1920000"/>
            <a:ext cx="3400000" cy="4200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Deploy NIH baseline model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Route SGH prostate MRIs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Return RTSTRUCT to PACS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Track model performance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Swap to SGH-trained model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000000"/>
                </a:solidFill>
              </a:rPr>
              <a:t>• Scale across departments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CARPL 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0000" y="1400000"/>
            <a:ext cx="2400000" cy="45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</a:rPr>
              <a:t>DICOM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870000"/>
            <a:ext cx="2400000" cy="63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Routes studies from
PACS to AI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0000" y="1400000"/>
            <a:ext cx="2400000" cy="450000"/>
          </a:xfrm>
          <a:prstGeom prst="round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</a:rPr>
              <a:t>Model Registry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0000" y="1870000"/>
            <a:ext cx="2400000" cy="63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Stores versioned
Docker/MAP containers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1400000"/>
            <a:ext cx="2400000" cy="45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</a:rPr>
              <a:t>Inference Engine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1870000"/>
            <a:ext cx="2400000" cy="63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Runs AI models on
incoming DICOM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0000" y="1400000"/>
            <a:ext cx="2400000" cy="450000"/>
          </a:xfrm>
          <a:prstGeom prst="roundRect">
            <a:avLst/>
          </a:prstGeom>
          <a:solidFill>
            <a:srgbClr val="E0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</a:rPr>
              <a:t>Results Manager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50000" y="1870000"/>
            <a:ext cx="2400000" cy="63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0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Formats &amp; returns
outputs to PACS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3550000"/>
            <a:ext cx="2400000" cy="45000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</a:rPr>
              <a:t>Monitoring &amp;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4020000"/>
            <a:ext cx="2400000" cy="63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Tracks throughput,
latency, errors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50000" y="3550000"/>
            <a:ext cx="2400000" cy="4500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</a:rPr>
              <a:t>Admin Console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0000" y="4020000"/>
            <a:ext cx="2400000" cy="63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User management,
model config,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0000" y="3550000"/>
            <a:ext cx="2400000" cy="45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</a:rPr>
              <a:t>Data Store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0000" y="4020000"/>
            <a:ext cx="2400000" cy="63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Temporary DICOM
storage &amp; caching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0000" y="3550000"/>
            <a:ext cx="2400000" cy="45000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</a:rPr>
              <a:t>Integration APIs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0000" y="4020000"/>
            <a:ext cx="2400000" cy="63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REST/DICOM interfaces
for external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0000" y="2200000"/>
            <a:ext cx="105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AADDDD"/>
                </a:solidFill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800000"/>
            <a:ext cx="105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SGH Architecture &amp;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900000"/>
            <a:ext cx="10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CEEEE"/>
                </a:solidFill>
              </a:rPr>
              <a:t>RAPIER, CARPL, CHROMA, Biobot, Mona Lisa, UroFusion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Key Systems &amp; Stakeholders in the MRI PSA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00000"/>
            <a:ext cx="3200000" cy="55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</a:rPr>
              <a:t>RAPIER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70000"/>
            <a:ext cx="3200000" cy="123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Radiology-Pathology Information
Exchange Resource
(AISG-funded infrastructure project)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57200" y="1400000"/>
            <a:ext cx="3200000" cy="550000"/>
          </a:xfrm>
          <a:prstGeom prst="round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</a:rPr>
              <a:t>CARPL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57200" y="1970000"/>
            <a:ext cx="3200000" cy="123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Clinical AI Research &amp;
Production Lab
(Radiology AI deployment platform)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57200" y="1400000"/>
            <a:ext cx="3200000" cy="55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</a:rPr>
              <a:t>CHROMA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57200" y="1970000"/>
            <a:ext cx="3200000" cy="123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SGH Supercomputer Cluster
(Model training compute
resource)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700000"/>
            <a:ext cx="3200000" cy="550000"/>
          </a:xfrm>
          <a:prstGeom prst="roundRect">
            <a:avLst/>
          </a:prstGeom>
          <a:solidFill>
            <a:srgbClr val="E0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</a:rPr>
              <a:t>Biobot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70000"/>
            <a:ext cx="3200000" cy="123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0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Biobot Surgical Pte Ltd
(Robotic biopsy system
manufacturer)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57200" y="3700000"/>
            <a:ext cx="3200000" cy="55000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</a:rPr>
              <a:t>Mona Lisa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7200" y="4270000"/>
            <a:ext cx="3200000" cy="123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Biobot's MRI-guided
Targeted Biopsy Robot
(Surgical system)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57200" y="3700000"/>
            <a:ext cx="3200000" cy="55000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</a:rPr>
              <a:t>UroFusion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57200" y="4270000"/>
            <a:ext cx="3200000" cy="123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>
                <a:solidFill>
                  <a:srgbClr val="000000"/>
                </a:solidFill>
              </a:rPr>
              <a:t>Biobot's Software Suite
(Contouring, planning,
DICOM RTSTRUCT import)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00000"/>
            <a:ext cx="11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999999"/>
                </a:solidFill>
              </a:rPr>
              <a:t>Synapxe: IT infrastructure provider; approved the CARPL platform deployment within SGH Diagnostic Radiology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How the Systems Connect: Logical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0000" y="1500000"/>
            <a:ext cx="2200000" cy="70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Clinical PACS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(SGH Radiology)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50000" y="1750000"/>
            <a:ext cx="400000" cy="20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00000" y="1500000"/>
            <a:ext cx="2400000" cy="700000"/>
          </a:xfrm>
          <a:prstGeom prst="round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TTP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De-identification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650000" y="1750000"/>
            <a:ext cx="400000" cy="20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00000" y="1500000"/>
            <a:ext cx="2400000" cy="700000"/>
          </a:xfrm>
          <a:prstGeom prst="round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RAPIER / CARPL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(AI Platform)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550000" y="1750000"/>
            <a:ext cx="400000" cy="20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00000" y="1500000"/>
            <a:ext cx="2600000" cy="70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AI Model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(Docker/MAP Container)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7200000" y="2200000"/>
            <a:ext cx="200000" cy="350000"/>
          </a:xfrm>
          <a:prstGeom prst="down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00000" y="2800000"/>
            <a:ext cx="2400000" cy="700000"/>
          </a:xfrm>
          <a:prstGeom prst="roundRect">
            <a:avLst/>
          </a:prstGeom>
          <a:solidFill>
            <a:srgbClr val="E0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Inference Results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(RTSTRUCT / NIfTI)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00000" y="3050000"/>
            <a:ext cx="400000" cy="20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0000" y="2800000"/>
            <a:ext cx="3150000" cy="70000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Radiologist Review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&amp; Refinement (UroFusion)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2000000" y="3500000"/>
            <a:ext cx="200000" cy="350000"/>
          </a:xfrm>
          <a:prstGeom prst="down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0000" y="4200000"/>
            <a:ext cx="3150000" cy="700000"/>
          </a:xfrm>
          <a:prstGeom prst="roundRect">
            <a:avLst/>
          </a:prstGeom>
          <a:solidFill>
            <a:srgbClr val="00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Curated Dataset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(Refined Contours)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700000" y="4450000"/>
            <a:ext cx="400000" cy="20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50000" y="4200000"/>
            <a:ext cx="2400000" cy="70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CHROMA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(SGH Supercomputer)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00000" y="4450000"/>
            <a:ext cx="400000" cy="20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50000" y="4200000"/>
            <a:ext cx="2800000" cy="700000"/>
          </a:xfrm>
          <a:prstGeom prst="round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SGH-Optimised Model</a:t>
            </a:r>
          </a:p>
          <a:p>
            <a:pPr algn="ctr"/>
            <a:r>
              <a:rPr sz="1200" b="1">
                <a:solidFill>
                  <a:srgbClr val="FFFFFF"/>
                </a:solidFill>
              </a:rPr>
              <a:t>(Retrained)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0000" y="5500000"/>
            <a:ext cx="5500000" cy="60000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Biobot Mona Lisa Robotic System  ←  Vetted RTSTRUCT from radiologist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0000" y="5500000"/>
            <a:ext cx="5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i="1">
                <a:solidFill>
                  <a:srgbClr val="999999"/>
                </a:solidFill>
              </a:rPr>
              <a:t>All imaging data remains within SGH campus (no third-party transfers). CARPL workstation sited in Dept of Diagnostic Radiology with restricted access.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End-to-End Data Flow: From Patient Scan to Biopsy Planning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400000"/>
            <a:ext cx="2500000" cy="40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1. Patient MRI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00" y="1820000"/>
            <a:ext cx="2500000" cy="8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mpMRI acquired at SGH
(T2W, ADC, DWI)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0000" y="2000000"/>
            <a:ext cx="250000" cy="15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200000" y="1400000"/>
            <a:ext cx="2500000" cy="40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2. PACS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000" y="1820000"/>
            <a:ext cx="2500000" cy="8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DICOM study stored
in clinical PACS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720000" y="2000000"/>
            <a:ext cx="250000" cy="15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00000" y="1400000"/>
            <a:ext cx="2500000" cy="400000"/>
          </a:xfrm>
          <a:prstGeom prst="roundRect">
            <a:avLst/>
          </a:prstGeom>
          <a:solidFill>
            <a:srgbClr val="9999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3. TTP De-identification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0000" y="1820000"/>
            <a:ext cx="2500000" cy="8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Trusted Third Party
removes patient identifiers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520000" y="2000000"/>
            <a:ext cx="250000" cy="15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800000" y="1400000"/>
            <a:ext cx="2500000" cy="400000"/>
          </a:xfrm>
          <a:prstGeom prst="round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4. CARPL Ingestion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00000" y="1820000"/>
            <a:ext cx="2500000" cy="8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De-identified DICOM
routed to CARPL platform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000" y="3100000"/>
            <a:ext cx="2500000" cy="40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5. AI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00" y="3520000"/>
            <a:ext cx="2500000" cy="8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MRI PSA model processes
study (organ + lesion seg)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20000" y="3700000"/>
            <a:ext cx="250000" cy="15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00000" y="3100000"/>
            <a:ext cx="2500000" cy="400000"/>
          </a:xfrm>
          <a:prstGeom prst="roundRect">
            <a:avLst/>
          </a:prstGeom>
          <a:solidFill>
            <a:srgbClr val="E0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6. RTSTRUCT Export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000" y="3520000"/>
            <a:ext cx="2500000" cy="8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0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Segmentation masks
converted to DICOM RTSTRUCT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720000" y="3700000"/>
            <a:ext cx="250000" cy="15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00000" y="3100000"/>
            <a:ext cx="2500000" cy="40000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7. Radiologist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00000" y="3520000"/>
            <a:ext cx="2500000" cy="8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Specialist reviews &amp; refines
contours in UroFusion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520000" y="3700000"/>
            <a:ext cx="250000" cy="15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800000" y="3100000"/>
            <a:ext cx="2500000" cy="40000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</a:rPr>
              <a:t>8. Mona Lisa Import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0000" y="3520000"/>
            <a:ext cx="2500000" cy="8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>
                <a:solidFill>
                  <a:srgbClr val="000000"/>
                </a:solidFill>
              </a:rPr>
              <a:t>Vetted contours imported
into robotic biopsy 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Infrastructure: Where Does Everything Live?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00000"/>
            <a:ext cx="5500000" cy="2000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400000"/>
            <a:ext cx="5500000" cy="400000"/>
          </a:xfrm>
          <a:prstGeom prst="roundRect">
            <a:avLst/>
          </a:prstGeom>
          <a:solidFill>
            <a:srgbClr val="33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SGH Clinical Network (On-Premises)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7200" y="1900000"/>
            <a:ext cx="52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Clinical PACS (DICOM archive)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Radiology Information System (RIS)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Clinical Workstations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Synapxe-managed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00000"/>
            <a:ext cx="5500000" cy="2000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600000"/>
            <a:ext cx="5500000" cy="400000"/>
          </a:xfrm>
          <a:prstGeom prst="round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SGH Research Zone (On-Premises / Restricted)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200" y="4100000"/>
            <a:ext cx="52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RAPIER / CARPL Platform (AI workstation)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De-identified DICOM storage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Model inference environment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Sited in Dept of Diagnostic Radiology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7200" y="1400000"/>
            <a:ext cx="5500000" cy="2000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57200" y="1400000"/>
            <a:ext cx="5500000" cy="40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SGH Compute (CHROMA Cluster)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7200" y="1900000"/>
            <a:ext cx="52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GPU-accelerated training nodes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Model training &amp; validation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Experiment tracking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Dataset version management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7200" y="3600000"/>
            <a:ext cx="5500000" cy="2000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E0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257200" y="3600000"/>
            <a:ext cx="5500000" cy="400000"/>
          </a:xfrm>
          <a:prstGeom prst="roundRect">
            <a:avLst/>
          </a:prstGeom>
          <a:solidFill>
            <a:srgbClr val="E07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Biobot Systems (External/On-site)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7200" y="4100000"/>
            <a:ext cx="52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UroFusion software (contouring)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Mona Lisa robotic system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RTSTRUCT import capability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000000"/>
                </a:solidFill>
              </a:rPr>
              <a:t>• Surgical planning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0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CC3333"/>
                </a:solidFill>
              </a:rPr>
              <a:t>Data Sovereignty: All patient data (even de-identified) remains within SGH campus. No cloud transfers. CARPL is an on-premises deployment approved by Synapxe.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MRI PSA Pipeline: MONAI Deploy DAG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0000" y="1800000"/>
            <a:ext cx="1450000" cy="50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DICOM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Data Loader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0000" y="2320000"/>
            <a:ext cx="1450000" cy="6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Load DICOM
studies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55000" y="2350000"/>
            <a:ext cx="14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900000" y="1800000"/>
            <a:ext cx="1450000" cy="50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Series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Selector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00000" y="2320000"/>
            <a:ext cx="1450000" cy="6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Regex-based
T2/ADC/HIGHB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55000" y="2350000"/>
            <a:ext cx="14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00000" y="1800000"/>
            <a:ext cx="1450000" cy="50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Series to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Volume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0000" y="2320000"/>
            <a:ext cx="1450000" cy="6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Convert to 3D
in-memory images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55000" y="2350000"/>
            <a:ext cx="14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00000" y="1800000"/>
            <a:ext cx="1450000" cy="500000"/>
          </a:xfrm>
          <a:prstGeom prst="round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Organ Seg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(Prostate)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0000" y="2320000"/>
            <a:ext cx="1450000" cy="6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RAS, 1.0mm
Sliding window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555000" y="2350000"/>
            <a:ext cx="14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00000" y="1800000"/>
            <a:ext cx="1450000" cy="50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Lesion Seg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(5-Fold)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0000" y="2320000"/>
            <a:ext cx="1450000" cy="6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0.5mm, ROI crop
RRUNet3D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155000" y="2350000"/>
            <a:ext cx="14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00000" y="1800000"/>
            <a:ext cx="1450000" cy="500000"/>
          </a:xfrm>
          <a:prstGeom prst="roundRect">
            <a:avLst/>
          </a:prstGeom>
          <a:solidFill>
            <a:srgbClr val="E0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PI-RADS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Classifier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0000" y="2320000"/>
            <a:ext cx="1450000" cy="6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0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3D ResNet
64³ crops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755000" y="2350000"/>
            <a:ext cx="14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900000" y="1800000"/>
            <a:ext cx="1450000" cy="50000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RTSTRUCT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00000" y="2320000"/>
            <a:ext cx="1450000" cy="6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NIfTI → DICOM
RT Structure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300000"/>
            <a:ext cx="11277295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0000"/>
                </a:solidFill>
              </a:rPr>
              <a:t>MONAI Deploy DAG: DICOMDataLoaderOperator → DICOMSeriesSelectorOperator → DICOMSeriesToVolumeOperator → ProstateSegOperator → ProstateLesionSegOperator → ProstateLesionClassifierOperator</a:t>
            </a:r>
          </a:p>
          <a:p>
            <a:endParaRPr sz="1100">
              <a:solidFill>
                <a:srgbClr val="000000"/>
              </a:solidFill>
            </a:endParaRPr>
          </a:p>
          <a:p>
            <a:r>
              <a:rPr sz="1100">
                <a:solidFill>
                  <a:srgbClr val="000000"/>
                </a:solidFill>
              </a:rPr>
              <a:t>Key Details:</a:t>
            </a:r>
          </a:p>
          <a:p>
            <a:r>
              <a:rPr sz="1100">
                <a:solidFill>
                  <a:srgbClr val="000000"/>
                </a:solidFill>
              </a:rPr>
              <a:t>• Organ Seg: T2-only input, RAS orientation, 1.0mm isotropic, sliding window ROI (128,128,16), 50% overlap, TorchScript model</a:t>
            </a:r>
          </a:p>
          <a:p>
            <a:r>
              <a:rPr sz="1100">
                <a:solidFill>
                  <a:srgbClr val="000000"/>
                </a:solidFill>
              </a:rPr>
              <a:t>• Lesion Seg: T2+ADC+HIGHB (3ch), 0.5mm isotropic, organ-masked ROI with 32-voxel margin, 5-fold RRUNet3D ensemble, threshold=0.6345</a:t>
            </a:r>
          </a:p>
          <a:p>
            <a:r>
              <a:rPr sz="1100">
                <a:solidFill>
                  <a:srgbClr val="000000"/>
                </a:solidFill>
              </a:rPr>
              <a:t>• Classifier: 3D ResNet on 64³ crops per lesion, 4-class → PI-RADS 2-5, rule: PI-RADS 4 + axis&gt;40mm → PI-RADS 5</a:t>
            </a:r>
          </a:p>
          <a:p>
            <a:r>
              <a:rPr sz="1100">
                <a:solidFill>
                  <a:srgbClr val="000000"/>
                </a:solidFill>
              </a:rPr>
              <a:t>• RTSTRUCT: Hole-filled contours exported as DICOM RT Structure Set, verified in 3D Slicer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Model Inventory &amp;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1277295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6666"/>
                </a:solidFill>
              </a:rPr>
              <a:t>7 Models in the MRI PSA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0000" y="1700000"/>
            <a:ext cx="1500000" cy="370000"/>
          </a:xfrm>
          <a:prstGeom prst="rect">
            <a:avLst/>
          </a:prstGeom>
          <a:solidFill>
            <a:srgbClr val="0044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0000" y="1700000"/>
            <a:ext cx="2300000" cy="370000"/>
          </a:xfrm>
          <a:prstGeom prst="rect">
            <a:avLst/>
          </a:prstGeom>
          <a:solidFill>
            <a:srgbClr val="0044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Path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0000" y="1700000"/>
            <a:ext cx="900000" cy="370000"/>
          </a:xfrm>
          <a:prstGeom prst="rect">
            <a:avLst/>
          </a:prstGeom>
          <a:solidFill>
            <a:srgbClr val="0044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900000" y="1700000"/>
            <a:ext cx="1800000" cy="370000"/>
          </a:xfrm>
          <a:prstGeom prst="rect">
            <a:avLst/>
          </a:prstGeom>
          <a:solidFill>
            <a:srgbClr val="0044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0000" y="1700000"/>
            <a:ext cx="1600000" cy="370000"/>
          </a:xfrm>
          <a:prstGeom prst="rect">
            <a:avLst/>
          </a:prstGeom>
          <a:solidFill>
            <a:srgbClr val="0044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00000" y="1700000"/>
            <a:ext cx="1100000" cy="370000"/>
          </a:xfrm>
          <a:prstGeom prst="rect">
            <a:avLst/>
          </a:prstGeom>
          <a:solidFill>
            <a:srgbClr val="0044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00000" y="1700000"/>
            <a:ext cx="1200000" cy="370000"/>
          </a:xfrm>
          <a:prstGeom prst="rect">
            <a:avLst/>
          </a:prstGeom>
          <a:solidFill>
            <a:srgbClr val="004444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Resolution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0000" y="2070000"/>
            <a:ext cx="15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Organ Segmentation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00000" y="2070000"/>
            <a:ext cx="23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models/organ/model.ts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000" y="2070000"/>
            <a:ext cx="9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TorchScript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0000" y="2070000"/>
            <a:ext cx="18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T2 (1ch)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0000" y="2070000"/>
            <a:ext cx="16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3-class (BG/TZ/PZ)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00000" y="2070000"/>
            <a:ext cx="11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RRUNet3D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00000" y="2070000"/>
            <a:ext cx="12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1.0mm isotropic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0000" y="2440000"/>
            <a:ext cx="15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Lesion Seg Fold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00000" y="2440000"/>
            <a:ext cx="23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models/fold0/model_best_fold0.pth.tar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00000" y="2440000"/>
            <a:ext cx="9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PyTorch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00000" y="2440000"/>
            <a:ext cx="18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T2+ADC+HIGHB (3ch)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00000" y="2440000"/>
            <a:ext cx="16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2-class (BG/Lesion)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0000" y="2440000"/>
            <a:ext cx="11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RRUNet3D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00000" y="2440000"/>
            <a:ext cx="12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0.5mm isotropic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0000" y="2810000"/>
            <a:ext cx="15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Lesion Seg Fold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00000" y="2810000"/>
            <a:ext cx="23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models/fold1/model_best_fold1.pth.tar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0000" y="2810000"/>
            <a:ext cx="9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PyTorch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00000" y="2810000"/>
            <a:ext cx="18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T2+ADC+HIGHB (3ch)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0000" y="2810000"/>
            <a:ext cx="16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2-class (BG/Lesion)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00000" y="2810000"/>
            <a:ext cx="11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RRUNet3D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00000" y="2810000"/>
            <a:ext cx="12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0.5mm isotropic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000" y="3180000"/>
            <a:ext cx="15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Lesion Seg Fold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00000" y="3180000"/>
            <a:ext cx="23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models/fold2/model_best_fold2.pth.tar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00000" y="3180000"/>
            <a:ext cx="9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PyTorch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00000" y="3180000"/>
            <a:ext cx="18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T2+ADC+HIGHB (3ch)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00000" y="3180000"/>
            <a:ext cx="16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2-class (BG/Lesion)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00000" y="3180000"/>
            <a:ext cx="11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RRUNet3D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00000" y="3180000"/>
            <a:ext cx="12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0.5mm isotropic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0000" y="3550000"/>
            <a:ext cx="15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Lesion Seg Fold 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00000" y="3550000"/>
            <a:ext cx="23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models/fold3/model_best_fold3.pth.tar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0000" y="3550000"/>
            <a:ext cx="9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PyTorch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00000" y="3550000"/>
            <a:ext cx="18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T2+ADC+HIGHB (3ch)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00000" y="3550000"/>
            <a:ext cx="16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2-class (BG/Lesion)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00000" y="3550000"/>
            <a:ext cx="11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RRUNet3D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00" y="3550000"/>
            <a:ext cx="12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0.5mm isotropic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0000" y="3920000"/>
            <a:ext cx="15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Lesion Seg Fold 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00000" y="3920000"/>
            <a:ext cx="23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models/fold4/model_best_fold4.pth.tar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00000" y="3920000"/>
            <a:ext cx="9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PyTorch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00000" y="3920000"/>
            <a:ext cx="18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T2+ADC+HIGHB (3ch)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00000" y="3920000"/>
            <a:ext cx="16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2-class (BG/Lesion)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00000" y="3920000"/>
            <a:ext cx="11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RRUNet3D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400000" y="3920000"/>
            <a:ext cx="1200000" cy="370000"/>
          </a:xfrm>
          <a:prstGeom prst="rect">
            <a:avLst/>
          </a:prstGeom>
          <a:solidFill>
            <a:srgbClr val="FFFFFF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0.5mm isotropic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00000" y="4290000"/>
            <a:ext cx="15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PI-RADS Classifier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00000" y="4290000"/>
            <a:ext cx="23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models/classifier/model_best.pth.tar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000000" y="4290000"/>
            <a:ext cx="9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PyTorch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900000" y="4290000"/>
            <a:ext cx="18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5ch (T2+ADC+HIGHB+organ+lesion)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00000" y="4290000"/>
            <a:ext cx="16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4-class (PI-RADS 2-5)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00000" y="4290000"/>
            <a:ext cx="11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3D ResNet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400000" y="4290000"/>
            <a:ext cx="1200000" cy="370000"/>
          </a:xfrm>
          <a:prstGeom prst="rect">
            <a:avLst/>
          </a:prstGeom>
          <a:solidFill>
            <a:srgbClr val="F2F2F2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700">
                <a:solidFill>
                  <a:srgbClr val="000000"/>
                </a:solidFill>
              </a:rPr>
              <a:t>0.5mm, 64³ crops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 Engineering: Series Selection &amp;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127729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• DICOM Series Selection (Regex-based Rules):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T2-Weighted: Matched via SeriesDescription (e.g., "t2", "T2W", "T2_TSE")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ADC Map: Matched via ImageType containing "ADC" or SeriesDescription patterns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High b-value DWI: Matched via b-value tags or SeriesDescription ("HIGHB", "b1500", etc.)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Rules tuned for ProstateX naming; must be adapted for SGH naming conventions</a:t>
            </a:r>
          </a:p>
          <a:p>
            <a:endParaRPr sz="1300">
              <a:solidFill>
                <a:srgbClr val="000000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• Geometry Standardisation: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T2 reoriented to RAS (Right-Anterior-Superior)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Organ seg: resample to 1.0mm isotropic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Lesion seg: ADC/HIGHB aligned to T2 geometry (SimpleITK), then all to 0.5mm isotropic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ROI computed from organ mask with 32-voxel margin</a:t>
            </a:r>
          </a:p>
          <a:p>
            <a:endParaRPr sz="1300">
              <a:solidFill>
                <a:srgbClr val="000000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• Data Volume Estimates (SGH):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1 scan: ~9.55 MB (T2W + ADC + 4 DWIs), or ~6.56 MB (T2W + ADC + DWI high only)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5,000 scans: ~32-47 GB (uncompressed DICOM)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Entire study (incl. all series): ~3,000 images per study sent to CARPL</a:t>
            </a:r>
          </a:p>
          <a:p>
            <a:endParaRPr sz="1300">
              <a:solidFill>
                <a:srgbClr val="000000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• Critical Consideration for SGH Deployment: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Series naming varies across scanners and protocols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Must validate regex rules against SGH DICOM metadata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Fallback/QA strategy needed for unmatched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0000" y="2200000"/>
            <a:ext cx="105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AADDDD"/>
                </a:solidFill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800000"/>
            <a:ext cx="105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Deployment, MLOps &amp;
Operational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Deployment Architecture: How We Run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127729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• Containerised Deployment (Docker / MONAI Application Package):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Model packaged as MAP (MONAI Application Package) using Holoscan CLI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Contains: model weights, inference code, dependencies, DICOM I/O logic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Reproducible and portable across environments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GPU-accelerated inference (NVIDIA GPU with ≥12 GB VRAM recommended)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• CARPL Integration: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MAP deployed on CARPL infrastructure within SGH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DICOM studies routed from PACS to CARPL automatically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Inference results (RTSTRUCT) pushed back to PACS or viewer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We (DDS team) are the primary operators of the deployed model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• Build &amp; Run Commands: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Local: ./scripts/test_local.sh -i &lt;input&gt; -o &lt;output&gt; -m &lt;models&gt;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MAP Build: ./scripts/test_MAP.sh -i &lt;input&gt; -o &lt;output&gt; -m &lt;models&gt; -b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MAP Run: ./scripts/test_MAP.sh -i &lt;input&gt; -o &lt;output&gt; -m &lt;models&gt;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200">
                <a:solidFill>
                  <a:srgbClr val="000000"/>
                </a:solidFill>
              </a:rPr>
              <a:t>• Resource Requirements: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GPU: NVIDIA with ≥12 GB VRAM (inference)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CPU: Multi-core for DICOM processing and SimpleITK resampling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Storage: Temporary DICOM + NIfTI outputs per study (~50-100 MB per case)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Network: DICOM routing between PACS and CARPL workstation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MLOps &amp; Monitoring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53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6666"/>
                </a:solidFill>
              </a:rPr>
              <a:t>Model Lifecycle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0000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• Model Versioning: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Track model checkpoints with hashes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Pin deployed model version on CARPL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Maintain rollback capability</a:t>
            </a:r>
          </a:p>
          <a:p>
            <a:r>
              <a:rPr sz="1200">
                <a:solidFill>
                  <a:srgbClr val="000000"/>
                </a:solidFill>
              </a:rPr>
              <a:t>• Retraining Pipeline: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Curated SGH dataset → CHROMA training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5-fold cross-validation protocol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Validation on held-out test set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Performance benchmarking vs baseline</a:t>
            </a:r>
          </a:p>
          <a:p>
            <a:r>
              <a:rPr sz="1200">
                <a:solidFill>
                  <a:srgbClr val="000000"/>
                </a:solidFill>
              </a:rPr>
              <a:t>• Model Registry: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Store model artifacts + configs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Code commit hash per release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Dataset version linked to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7200" y="1300000"/>
            <a:ext cx="53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6666"/>
                </a:solidFill>
              </a:rPr>
              <a:t>Monitoring &amp;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7200" y="1800000"/>
            <a:ext cx="53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000000"/>
                </a:solidFill>
              </a:rPr>
              <a:t>• Performance Monitoring: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Inference latency per case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Success/failure rate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Series selection hit rate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GPU utilisation metrics</a:t>
            </a:r>
          </a:p>
          <a:p>
            <a:r>
              <a:rPr sz="1200">
                <a:solidFill>
                  <a:srgbClr val="000000"/>
                </a:solidFill>
              </a:rPr>
              <a:t>• Quality Monitoring: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Radiologist correction frequency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Dice score vs manual contours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Drift detection (input distribution)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Failure mode logging</a:t>
            </a:r>
          </a:p>
          <a:p>
            <a:r>
              <a:rPr sz="1200">
                <a:solidFill>
                  <a:srgbClr val="000000"/>
                </a:solidFill>
              </a:rPr>
              <a:t>• Alerting: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Pipeline failures / timeouts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Missing series detection</a:t>
            </a:r>
          </a:p>
          <a:p>
            <a:pPr lvl="1"/>
            <a:r>
              <a:rPr sz="1200">
                <a:solidFill>
                  <a:srgbClr val="000000"/>
                </a:solidFill>
              </a:rPr>
              <a:t>• Output QA checks (empty masks, etc.)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Retraining Workflow: From Feedback to Improved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0000" y="1600000"/>
            <a:ext cx="1700000" cy="50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1. Collect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0000" y="2120000"/>
            <a:ext cx="1700000" cy="7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Radiologist corrections
stored as ground truth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55000" y="2200000"/>
            <a:ext cx="19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250000" y="1600000"/>
            <a:ext cx="1700000" cy="500000"/>
          </a:xfrm>
          <a:prstGeom prst="round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2. Curate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50000" y="2120000"/>
            <a:ext cx="1700000" cy="7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QA annotations
Version dataset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55000" y="2200000"/>
            <a:ext cx="19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50000" y="1600000"/>
            <a:ext cx="1700000" cy="50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3. Train on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CHROMA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50000" y="2120000"/>
            <a:ext cx="1700000" cy="7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5-fold CV
DiceCE + Novograd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5000" y="2200000"/>
            <a:ext cx="19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50000" y="1600000"/>
            <a:ext cx="1700000" cy="500000"/>
          </a:xfrm>
          <a:prstGeom prst="roundRect">
            <a:avLst/>
          </a:prstGeom>
          <a:solidFill>
            <a:srgbClr val="E0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4. Validate &amp;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0000" y="2120000"/>
            <a:ext cx="1700000" cy="7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E0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Held-out test set
vs. baseline model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755000" y="2200000"/>
            <a:ext cx="19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50000" y="1600000"/>
            <a:ext cx="1700000" cy="500000"/>
          </a:xfrm>
          <a:prstGeom prst="roundRect">
            <a:avLst/>
          </a:prstGeom>
          <a:solidFill>
            <a:srgbClr val="663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5. Package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0000" y="2120000"/>
            <a:ext cx="1700000" cy="7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Containerise new
model weights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55000" y="2200000"/>
            <a:ext cx="190000" cy="120000"/>
          </a:xfrm>
          <a:prstGeom prst="rightArrow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50000" y="1600000"/>
            <a:ext cx="1700000" cy="500000"/>
          </a:xfrm>
          <a:prstGeom prst="roundRect">
            <a:avLst/>
          </a:prstGeom>
          <a:solidFill>
            <a:srgbClr val="CC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</a:rPr>
              <a:t>6. Deploy to</a:t>
            </a:r>
          </a:p>
          <a:p>
            <a:pPr algn="ctr"/>
            <a:r>
              <a:rPr sz="1100" b="1">
                <a:solidFill>
                  <a:srgbClr val="FFFFFF"/>
                </a:solidFill>
              </a:rPr>
              <a:t>CARPL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50000" y="2120000"/>
            <a:ext cx="1700000" cy="7800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>
                <a:solidFill>
                  <a:srgbClr val="000000"/>
                </a:solidFill>
              </a:rPr>
              <a:t>Swap model version
Monitor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0000" y="3300000"/>
            <a:ext cx="11492000" cy="2500000"/>
          </a:xfrm>
          <a:prstGeom prst="roundRect">
            <a:avLst/>
          </a:prstGeom>
          <a:solidFill>
            <a:srgbClr val="F2F2F2"/>
          </a:solidFill>
          <a:ln w="2540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06666"/>
                </a:solidFill>
              </a:rPr>
              <a:t>Training Configuration (Current / Baseline)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00000"/>
                </a:solidFill>
              </a:rPr>
              <a:t>• Architecture: RRUNet3D (residual + recurrent + attention UNet)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00000"/>
                </a:solidFill>
              </a:rPr>
              <a:t>• Loss: DiceCELoss | Optimizer: Novograd | Scheduler: OneCycleLR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00000"/>
                </a:solidFill>
              </a:rPr>
              <a:t>• Training: batch_size=1, max_epochs=500, dropout=0.15, 5-fold CV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00000"/>
                </a:solidFill>
              </a:rPr>
              <a:t>• Organ: in_ch=1 (T2), out_ch=3 (BG/TZ/PZ), 1.0mm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00000"/>
                </a:solidFill>
              </a:rPr>
              <a:t>• Lesion: in_ch=3 (T2+ADC+HIGHB), out_ch=2 (BG/lesion), 0.5mm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00000"/>
                </a:solidFill>
              </a:rPr>
              <a:t>• Compute: SGH CHROMA supercomputer cluster (GPU nodes)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 Governance, Security &amp;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127729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• De-identification Protocol: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Trusted Third Party (TTP) extracts DICOM and removes patient identifiers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Compliant with SingHealth policy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Researchers blinded to patient identifiers throughout</a:t>
            </a:r>
          </a:p>
          <a:p>
            <a:endParaRPr sz="1300">
              <a:solidFill>
                <a:srgbClr val="000000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• Data Sovereignty: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All imaging data remains within SGH campus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No third-party cloud transfers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CARPL workstation physically sited in Dept of Diagnostic Radiology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Restricted access (approved by Synapxe)</a:t>
            </a:r>
          </a:p>
          <a:p>
            <a:endParaRPr sz="1300">
              <a:solidFill>
                <a:srgbClr val="000000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• IRB &amp; Regulatory: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IRB Reference: 2025-1468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IRB Exemption obtained (Oct 2025)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Research Collaboration Agreement between SGH and Biobot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SGH Innovation Grant 2025 (ends Sep 2026)</a:t>
            </a:r>
          </a:p>
          <a:p>
            <a:endParaRPr sz="1300">
              <a:solidFill>
                <a:srgbClr val="000000"/>
              </a:solidFill>
            </a:endParaRPr>
          </a:p>
          <a:p>
            <a:r>
              <a:rPr sz="1300">
                <a:solidFill>
                  <a:srgbClr val="000000"/>
                </a:solidFill>
              </a:rPr>
              <a:t>• IP &amp; Collaboration: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Foreground IP jointly owned by SGH and Biobot (equal undivided share)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Background IP remains with originating party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DICOM-standard outputs ensure interoperability</a:t>
            </a:r>
          </a:p>
          <a:p>
            <a:pPr lvl="1"/>
            <a:r>
              <a:rPr sz="1300">
                <a:solidFill>
                  <a:srgbClr val="000000"/>
                </a:solidFill>
              </a:rPr>
              <a:t>• Open-source NIH model used as baseline (publicly available)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0000" y="2200000"/>
            <a:ext cx="105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AADDDD"/>
                </a:solidFill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00" y="2800000"/>
            <a:ext cx="105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Questions for CARPL &amp;
Radiology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900000"/>
            <a:ext cx="105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CCEEEE"/>
                </a:solidFill>
              </a:rPr>
              <a:t>Critical unknowns we must clarify before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Questions: Data Flow &amp; CARPL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127729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6666"/>
                </a:solidFill>
              </a:rPr>
              <a:t>Data Routing &amp; Ingestion:</a:t>
            </a:r>
          </a:p>
          <a:p>
            <a:r>
              <a:rPr sz="1200">
                <a:solidFill>
                  <a:srgbClr val="000000"/>
                </a:solidFill>
              </a:rPr>
              <a:t>• How are DICOM studies routed from PACS to CARPL? (Push/pull? Manual trigger or automated rule?)</a:t>
            </a:r>
          </a:p>
          <a:p>
            <a:r>
              <a:rPr sz="1200">
                <a:solidFill>
                  <a:srgbClr val="000000"/>
                </a:solidFill>
              </a:rPr>
              <a:t>• Is there a DICOM node/listener on CARPL that accepts incoming studies?</a:t>
            </a:r>
          </a:p>
          <a:p>
            <a:r>
              <a:rPr sz="1200">
                <a:solidFill>
                  <a:srgbClr val="000000"/>
                </a:solidFill>
              </a:rPr>
              <a:t>• Can we filter at the PACS level to only send prostate MRI studies, or does CARPL receive everything?</a:t>
            </a:r>
          </a:p>
          <a:p>
            <a:r>
              <a:rPr sz="1200">
                <a:solidFill>
                  <a:srgbClr val="000000"/>
                </a:solidFill>
              </a:rPr>
              <a:t>• What happens if the full study (~3000 images) is sent but we only need T2W, ADC, DWI high?</a:t>
            </a:r>
          </a:p>
          <a:p>
            <a:r>
              <a:rPr sz="1200">
                <a:solidFill>
                  <a:srgbClr val="000000"/>
                </a:solidFill>
              </a:rPr>
              <a:t>• Does CARPL handle series-level filtering, or must our model container do all filtering?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CARPL Platform Specifics:</a:t>
            </a:r>
          </a:p>
          <a:p>
            <a:r>
              <a:rPr sz="1200">
                <a:solidFill>
                  <a:srgbClr val="000000"/>
                </a:solidFill>
              </a:rPr>
              <a:t>• What container runtime does CARPL use? (Docker, Podman, containerd?)</a:t>
            </a:r>
          </a:p>
          <a:p>
            <a:r>
              <a:rPr sz="1200">
                <a:solidFill>
                  <a:srgbClr val="000000"/>
                </a:solidFill>
              </a:rPr>
              <a:t>• What GPU is available on the CARPL workstation? (Model/VRAM)</a:t>
            </a:r>
          </a:p>
          <a:p>
            <a:r>
              <a:rPr sz="1200">
                <a:solidFill>
                  <a:srgbClr val="000000"/>
                </a:solidFill>
              </a:rPr>
              <a:t>• Is there a model registry/versioning system built into CARPL?</a:t>
            </a:r>
          </a:p>
          <a:p>
            <a:r>
              <a:rPr sz="1200">
                <a:solidFill>
                  <a:srgbClr val="000000"/>
                </a:solidFill>
              </a:rPr>
              <a:t>• How do we deploy a new model version? (CLI, web UI, API?)</a:t>
            </a:r>
          </a:p>
          <a:p>
            <a:r>
              <a:rPr sz="1200">
                <a:solidFill>
                  <a:srgbClr val="000000"/>
                </a:solidFill>
              </a:rPr>
              <a:t>• What are the storage limits for temporary inference data?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Results Delivery:</a:t>
            </a:r>
          </a:p>
          <a:p>
            <a:r>
              <a:rPr sz="1200">
                <a:solidFill>
                  <a:srgbClr val="000000"/>
                </a:solidFill>
              </a:rPr>
              <a:t>• How are RTSTRUCT results returned to PACS/clinical viewers?</a:t>
            </a:r>
          </a:p>
          <a:p>
            <a:r>
              <a:rPr sz="1200">
                <a:solidFill>
                  <a:srgbClr val="000000"/>
                </a:solidFill>
              </a:rPr>
              <a:t>• Can CARPL push RTSTRUCT directly to UroFusion, or must it go via PACS?</a:t>
            </a:r>
          </a:p>
          <a:p>
            <a:r>
              <a:rPr sz="1200">
                <a:solidFill>
                  <a:srgbClr val="000000"/>
                </a:solidFill>
              </a:rPr>
              <a:t>• What DICOM conformance checks does CARPL perform on outputs?</a:t>
            </a:r>
          </a:p>
          <a:p>
            <a:r>
              <a:rPr sz="1200">
                <a:solidFill>
                  <a:srgbClr val="000000"/>
                </a:solidFill>
              </a:rPr>
              <a:t>• How do radiologists access the AI outputs? (Separate viewer, PACS overlay, UroFusion?)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Questions: Operations, Monitoring &amp;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127729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6666"/>
                </a:solidFill>
              </a:rPr>
              <a:t>Operational Responsibility (We are the main operators!):</a:t>
            </a:r>
          </a:p>
          <a:p>
            <a:r>
              <a:rPr sz="1200">
                <a:solidFill>
                  <a:srgbClr val="000000"/>
                </a:solidFill>
              </a:rPr>
              <a:t>• Who has SSH/admin access to the CARPL workstation?</a:t>
            </a:r>
          </a:p>
          <a:p>
            <a:r>
              <a:rPr sz="1200">
                <a:solidFill>
                  <a:srgbClr val="000000"/>
                </a:solidFill>
              </a:rPr>
              <a:t>• What is the escalation path if the model container crashes or hangs?</a:t>
            </a:r>
          </a:p>
          <a:p>
            <a:r>
              <a:rPr sz="1200">
                <a:solidFill>
                  <a:srgbClr val="000000"/>
                </a:solidFill>
              </a:rPr>
              <a:t>• Is there 24/7 monitoring, or do we rely on manual checks?</a:t>
            </a:r>
          </a:p>
          <a:p>
            <a:r>
              <a:rPr sz="1200">
                <a:solidFill>
                  <a:srgbClr val="000000"/>
                </a:solidFill>
              </a:rPr>
              <a:t>• How do we handle model failures gracefully? (Fallback to manual workflow?)</a:t>
            </a:r>
          </a:p>
          <a:p>
            <a:r>
              <a:rPr sz="1200">
                <a:solidFill>
                  <a:srgbClr val="000000"/>
                </a:solidFill>
              </a:rPr>
              <a:t>• What SLA/uptime expectations exist for the AI model service?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Monitoring &amp; Logging:</a:t>
            </a:r>
          </a:p>
          <a:p>
            <a:r>
              <a:rPr sz="1200">
                <a:solidFill>
                  <a:srgbClr val="000000"/>
                </a:solidFill>
              </a:rPr>
              <a:t>• Does CARPL provide built-in logging for inference requests and results?</a:t>
            </a:r>
          </a:p>
          <a:p>
            <a:r>
              <a:rPr sz="1200">
                <a:solidFill>
                  <a:srgbClr val="000000"/>
                </a:solidFill>
              </a:rPr>
              <a:t>• Can we access container logs (stdout/stderr) for debugging?</a:t>
            </a:r>
          </a:p>
          <a:p>
            <a:r>
              <a:rPr sz="1200">
                <a:solidFill>
                  <a:srgbClr val="000000"/>
                </a:solidFill>
              </a:rPr>
              <a:t>• Is there an alerting mechanism for failures or anomalies?</a:t>
            </a:r>
          </a:p>
          <a:p>
            <a:r>
              <a:rPr sz="1200">
                <a:solidFill>
                  <a:srgbClr val="000000"/>
                </a:solidFill>
              </a:rPr>
              <a:t>• Can we track inference latency, throughput, and GPU utilisation over time?</a:t>
            </a:r>
          </a:p>
          <a:p>
            <a:r>
              <a:rPr sz="1200">
                <a:solidFill>
                  <a:srgbClr val="000000"/>
                </a:solidFill>
              </a:rPr>
              <a:t>• How do we detect data drift or degraded model performance in production?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Maintenance &amp; Updates:</a:t>
            </a:r>
          </a:p>
          <a:p>
            <a:r>
              <a:rPr sz="1200">
                <a:solidFill>
                  <a:srgbClr val="000000"/>
                </a:solidFill>
              </a:rPr>
              <a:t>• What is the process to update model weights without rebuilding the full container?</a:t>
            </a:r>
          </a:p>
          <a:p>
            <a:r>
              <a:rPr sz="1200">
                <a:solidFill>
                  <a:srgbClr val="000000"/>
                </a:solidFill>
              </a:rPr>
              <a:t>• Can we do hot-swaps of model versions, or is downtime required?</a:t>
            </a:r>
          </a:p>
          <a:p>
            <a:r>
              <a:rPr sz="1200">
                <a:solidFill>
                  <a:srgbClr val="000000"/>
                </a:solidFill>
              </a:rPr>
              <a:t>• Who manages OS/driver updates on the CARPL workstation?</a:t>
            </a:r>
          </a:p>
          <a:p>
            <a:r>
              <a:rPr sz="1200">
                <a:solidFill>
                  <a:srgbClr val="000000"/>
                </a:solidFill>
              </a:rPr>
              <a:t>• How are security patches applied to the inference environment?</a:t>
            </a:r>
          </a:p>
          <a:p>
            <a:r>
              <a:rPr sz="1200">
                <a:solidFill>
                  <a:srgbClr val="000000"/>
                </a:solidFill>
              </a:rPr>
              <a:t>• What backup/recovery procedures exist for the CARPL workstation?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Questions: Data Engineering &amp; MLOps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127729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6666"/>
                </a:solidFill>
              </a:rPr>
              <a:t>Data Storage &amp; Management:</a:t>
            </a:r>
          </a:p>
          <a:p>
            <a:r>
              <a:rPr sz="1200">
                <a:solidFill>
                  <a:srgbClr val="000000"/>
                </a:solidFill>
              </a:rPr>
              <a:t>• Where are de-identified DICOM studies stored long-term on CARPL? (Local disk, NAS, object store?)</a:t>
            </a:r>
          </a:p>
          <a:p>
            <a:r>
              <a:rPr sz="1200">
                <a:solidFill>
                  <a:srgbClr val="000000"/>
                </a:solidFill>
              </a:rPr>
              <a:t>• What is the retention policy for inference inputs and outputs?</a:t>
            </a:r>
          </a:p>
          <a:p>
            <a:r>
              <a:rPr sz="1200">
                <a:solidFill>
                  <a:srgbClr val="000000"/>
                </a:solidFill>
              </a:rPr>
              <a:t>• How do we manage the growing dataset of radiologist-corrected contours for retraining?</a:t>
            </a:r>
          </a:p>
          <a:p>
            <a:r>
              <a:rPr sz="1200">
                <a:solidFill>
                  <a:srgbClr val="000000"/>
                </a:solidFill>
              </a:rPr>
              <a:t>• Is there a structured database linking studies to inference results and radiologist feedback?</a:t>
            </a:r>
          </a:p>
          <a:p>
            <a:r>
              <a:rPr sz="1200">
                <a:solidFill>
                  <a:srgbClr val="000000"/>
                </a:solidFill>
              </a:rPr>
              <a:t>• How do we export curated datasets from CARPL to CHROMA for training?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Retraining &amp; Model Lifecycle:</a:t>
            </a:r>
          </a:p>
          <a:p>
            <a:r>
              <a:rPr sz="1200">
                <a:solidFill>
                  <a:srgbClr val="000000"/>
                </a:solidFill>
              </a:rPr>
              <a:t>• What is the expected retraining cadence? (Monthly, quarterly, on-demand?)</a:t>
            </a:r>
          </a:p>
          <a:p>
            <a:r>
              <a:rPr sz="1200">
                <a:solidFill>
                  <a:srgbClr val="000000"/>
                </a:solidFill>
              </a:rPr>
              <a:t>• How do we transfer training data securely between CARPL and CHROMA?</a:t>
            </a:r>
          </a:p>
          <a:p>
            <a:r>
              <a:rPr sz="1200">
                <a:solidFill>
                  <a:srgbClr val="000000"/>
                </a:solidFill>
              </a:rPr>
              <a:t>• Is there an automated pipeline for model validation before deployment?</a:t>
            </a:r>
          </a:p>
          <a:p>
            <a:r>
              <a:rPr sz="1200">
                <a:solidFill>
                  <a:srgbClr val="000000"/>
                </a:solidFill>
              </a:rPr>
              <a:t>• How do we run A/B testing between old and new model versions?</a:t>
            </a:r>
          </a:p>
          <a:p>
            <a:r>
              <a:rPr sz="1200">
                <a:solidFill>
                  <a:srgbClr val="000000"/>
                </a:solidFill>
              </a:rPr>
              <a:t>• What governance is needed to approve a model version for clinical use?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Data Quality &amp; Edge Cases:</a:t>
            </a:r>
          </a:p>
          <a:p>
            <a:r>
              <a:rPr sz="1200">
                <a:solidFill>
                  <a:srgbClr val="000000"/>
                </a:solidFill>
              </a:rPr>
              <a:t>• How do we handle studies with missing series (e.g., no high b-value DWI)?</a:t>
            </a:r>
          </a:p>
          <a:p>
            <a:r>
              <a:rPr sz="1200">
                <a:solidFill>
                  <a:srgbClr val="000000"/>
                </a:solidFill>
              </a:rPr>
              <a:t>• What if the series selection regex fails on SGH-specific naming conventions?</a:t>
            </a:r>
          </a:p>
          <a:p>
            <a:r>
              <a:rPr sz="1200">
                <a:solidFill>
                  <a:srgbClr val="000000"/>
                </a:solidFill>
              </a:rPr>
              <a:t>• How do we handle multi-scanner/multi-protocol variability across SGH?</a:t>
            </a:r>
          </a:p>
          <a:p>
            <a:r>
              <a:rPr sz="1200">
                <a:solidFill>
                  <a:srgbClr val="000000"/>
                </a:solidFill>
              </a:rPr>
              <a:t>• What QA checks should run automatically before inference proceeds?</a:t>
            </a:r>
          </a:p>
          <a:p>
            <a:r>
              <a:rPr sz="1200">
                <a:solidFill>
                  <a:srgbClr val="000000"/>
                </a:solidFill>
              </a:rPr>
              <a:t>• How do we log and track failed/rejected studies for root-cause analysis?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Questions: Clinical Workflow &amp; Radiology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127729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6666"/>
                </a:solidFill>
              </a:rPr>
              <a:t>Radiologist Workflow:</a:t>
            </a:r>
          </a:p>
          <a:p>
            <a:r>
              <a:rPr sz="1200">
                <a:solidFill>
                  <a:srgbClr val="000000"/>
                </a:solidFill>
              </a:rPr>
              <a:t>• At what point in the reporting workflow should AI contours appear?</a:t>
            </a:r>
          </a:p>
          <a:p>
            <a:r>
              <a:rPr sz="1200">
                <a:solidFill>
                  <a:srgbClr val="000000"/>
                </a:solidFill>
              </a:rPr>
              <a:t>• Should the AI run automatically on all prostate MRIs, or only on-demand?</a:t>
            </a:r>
          </a:p>
          <a:p>
            <a:r>
              <a:rPr sz="1200">
                <a:solidFill>
                  <a:srgbClr val="000000"/>
                </a:solidFill>
              </a:rPr>
              <a:t>• How long is acceptable latency from scan completion to AI contour availability?</a:t>
            </a:r>
          </a:p>
          <a:p>
            <a:r>
              <a:rPr sz="1200">
                <a:solidFill>
                  <a:srgbClr val="000000"/>
                </a:solidFill>
              </a:rPr>
              <a:t>• What is the expected review/refinement time per case with AI contours?</a:t>
            </a:r>
          </a:p>
          <a:p>
            <a:r>
              <a:rPr sz="1200">
                <a:solidFill>
                  <a:srgbClr val="000000"/>
                </a:solidFill>
              </a:rPr>
              <a:t>• How do we capture radiologist corrections in a structured, machine-readable format?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Biobot / UroFusion Integration:</a:t>
            </a:r>
          </a:p>
          <a:p>
            <a:r>
              <a:rPr sz="1200">
                <a:solidFill>
                  <a:srgbClr val="000000"/>
                </a:solidFill>
              </a:rPr>
              <a:t>• What DICOM RTSTRUCT fields does UroFusion require for import?</a:t>
            </a:r>
          </a:p>
          <a:p>
            <a:r>
              <a:rPr sz="1200">
                <a:solidFill>
                  <a:srgbClr val="000000"/>
                </a:solidFill>
              </a:rPr>
              <a:t>• Does UroFusion validate the RTSTRUCT geometry against the original DICOM series?</a:t>
            </a:r>
          </a:p>
          <a:p>
            <a:r>
              <a:rPr sz="1200">
                <a:solidFill>
                  <a:srgbClr val="000000"/>
                </a:solidFill>
              </a:rPr>
              <a:t>• Can UroFusion handle multi-class organ contours (TZ/PZ), or only whole-gland?</a:t>
            </a:r>
          </a:p>
          <a:p>
            <a:r>
              <a:rPr sz="1200">
                <a:solidFill>
                  <a:srgbClr val="000000"/>
                </a:solidFill>
              </a:rPr>
              <a:t>• What is the expected data format for lesion annotations in UroFusion?</a:t>
            </a:r>
          </a:p>
          <a:p>
            <a:r>
              <a:rPr sz="1200">
                <a:solidFill>
                  <a:srgbClr val="000000"/>
                </a:solidFill>
              </a:rPr>
              <a:t>• How does Mona Lisa ingest the final vetted contours from UroFusion?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Clinical Validation:</a:t>
            </a:r>
          </a:p>
          <a:p>
            <a:r>
              <a:rPr sz="1200">
                <a:solidFill>
                  <a:srgbClr val="000000"/>
                </a:solidFill>
              </a:rPr>
              <a:t>• What metrics will radiology use to evaluate AI contour quality? (Dice, HD95, visual?)</a:t>
            </a:r>
          </a:p>
          <a:p>
            <a:r>
              <a:rPr sz="1200">
                <a:solidFill>
                  <a:srgbClr val="000000"/>
                </a:solidFill>
              </a:rPr>
              <a:t>• How many cases are needed for initial clinical validation on SGH data?</a:t>
            </a:r>
          </a:p>
          <a:p>
            <a:r>
              <a:rPr sz="1200">
                <a:solidFill>
                  <a:srgbClr val="000000"/>
                </a:solidFill>
              </a:rPr>
              <a:t>• Is there a planned reader study or inter-rater variability assessment?</a:t>
            </a:r>
          </a:p>
          <a:p>
            <a:r>
              <a:rPr sz="1200">
                <a:solidFill>
                  <a:srgbClr val="000000"/>
                </a:solidFill>
              </a:rPr>
              <a:t>• What is the process to escalate AI failures to the development team?</a:t>
            </a:r>
          </a:p>
          <a:p>
            <a:r>
              <a:rPr sz="1200">
                <a:solidFill>
                  <a:srgbClr val="000000"/>
                </a:solidFill>
              </a:rPr>
              <a:t>• How do we ensure the AI does not introduce systematic bias in contours?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Questions: Scalability &amp; Future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11277295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6666"/>
                </a:solidFill>
              </a:rPr>
              <a:t>Scaling the Pipeline:</a:t>
            </a:r>
          </a:p>
          <a:p>
            <a:r>
              <a:rPr sz="1200">
                <a:solidFill>
                  <a:srgbClr val="000000"/>
                </a:solidFill>
              </a:rPr>
              <a:t>• What is the expected throughput? (Cases per day/hour)</a:t>
            </a:r>
          </a:p>
          <a:p>
            <a:r>
              <a:rPr sz="1200">
                <a:solidFill>
                  <a:srgbClr val="000000"/>
                </a:solidFill>
              </a:rPr>
              <a:t>• Can CARPL handle concurrent inference requests, or is it sequential?</a:t>
            </a:r>
          </a:p>
          <a:p>
            <a:r>
              <a:rPr sz="1200">
                <a:solidFill>
                  <a:srgbClr val="000000"/>
                </a:solidFill>
              </a:rPr>
              <a:t>• What happens during peak radiology hours? (Queuing, priority, throttling?)</a:t>
            </a:r>
          </a:p>
          <a:p>
            <a:r>
              <a:rPr sz="1200">
                <a:solidFill>
                  <a:srgbClr val="000000"/>
                </a:solidFill>
              </a:rPr>
              <a:t>• Is there capacity for batch processing (e.g., backlog of historical cases)?</a:t>
            </a:r>
          </a:p>
          <a:p>
            <a:r>
              <a:rPr sz="1200">
                <a:solidFill>
                  <a:srgbClr val="000000"/>
                </a:solidFill>
              </a:rPr>
              <a:t>• Can we scale to multiple CARPL workstations if demand grows?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Multi-Model Deployment:</a:t>
            </a:r>
          </a:p>
          <a:p>
            <a:r>
              <a:rPr sz="1200">
                <a:solidFill>
                  <a:srgbClr val="000000"/>
                </a:solidFill>
              </a:rPr>
              <a:t>• Can CARPL host multiple AI models simultaneously? (e.g., prostate + other organs)</a:t>
            </a:r>
          </a:p>
          <a:p>
            <a:r>
              <a:rPr sz="1200">
                <a:solidFill>
                  <a:srgbClr val="000000"/>
                </a:solidFill>
              </a:rPr>
              <a:t>• How are models isolated from each other? (Separate containers, shared GPU?)</a:t>
            </a:r>
          </a:p>
          <a:p>
            <a:r>
              <a:rPr sz="1200">
                <a:solidFill>
                  <a:srgbClr val="000000"/>
                </a:solidFill>
              </a:rPr>
              <a:t>• Is there a scheduling/orchestration layer for multi-model workflows?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Future Roadmap:</a:t>
            </a:r>
          </a:p>
          <a:p>
            <a:r>
              <a:rPr sz="1200">
                <a:solidFill>
                  <a:srgbClr val="000000"/>
                </a:solidFill>
              </a:rPr>
              <a:t>• Will CARPL support model marketplace / sharing between institutions?</a:t>
            </a:r>
          </a:p>
          <a:p>
            <a:r>
              <a:rPr sz="1200">
                <a:solidFill>
                  <a:srgbClr val="000000"/>
                </a:solidFill>
              </a:rPr>
              <a:t>• Is federated learning a consideration for multi-site model improvement?</a:t>
            </a:r>
          </a:p>
          <a:p>
            <a:r>
              <a:rPr sz="1200">
                <a:solidFill>
                  <a:srgbClr val="000000"/>
                </a:solidFill>
              </a:rPr>
              <a:t>• Can CARPL integrate with experiment tracking tools (MLflow, W&amp;B)?</a:t>
            </a:r>
          </a:p>
          <a:p>
            <a:r>
              <a:rPr sz="1200">
                <a:solidFill>
                  <a:srgbClr val="000000"/>
                </a:solidFill>
              </a:rPr>
              <a:t>• What is the CARPL team's roadmap for new features and integrations?</a:t>
            </a:r>
          </a:p>
          <a:p>
            <a:r>
              <a:rPr sz="1200">
                <a:solidFill>
                  <a:srgbClr val="000000"/>
                </a:solidFill>
              </a:rPr>
              <a:t>• Is there a community/user group for CARPL best practices?</a:t>
            </a:r>
          </a:p>
          <a:p>
            <a:endParaRPr sz="1200">
              <a:solidFill>
                <a:srgbClr val="000000"/>
              </a:solidFill>
            </a:endParaRPr>
          </a:p>
          <a:p>
            <a:r>
              <a:rPr sz="1400" b="1">
                <a:solidFill>
                  <a:srgbClr val="006666"/>
                </a:solidFill>
              </a:rPr>
              <a:t>Cost &amp; Sustainability:</a:t>
            </a:r>
          </a:p>
          <a:p>
            <a:r>
              <a:rPr sz="1200">
                <a:solidFill>
                  <a:srgbClr val="000000"/>
                </a:solidFill>
              </a:rPr>
              <a:t>• What are the ongoing operational costs for running CARPL?</a:t>
            </a:r>
          </a:p>
          <a:p>
            <a:r>
              <a:rPr sz="1200">
                <a:solidFill>
                  <a:srgbClr val="000000"/>
                </a:solidFill>
              </a:rPr>
              <a:t>• Who funds the GPU hardware refresh cycle?</a:t>
            </a:r>
          </a:p>
          <a:p>
            <a:r>
              <a:rPr sz="1200">
                <a:solidFill>
                  <a:srgbClr val="000000"/>
                </a:solidFill>
              </a:rPr>
              <a:t>• What is the licensing model for CARPL platform updates?</a:t>
            </a:r>
          </a:p>
          <a:p>
            <a:r>
              <a:rPr sz="1200">
                <a:solidFill>
                  <a:srgbClr val="000000"/>
                </a:solidFill>
              </a:rPr>
              <a:t>• How does this compare to commercial AI solutions (e.g., Lucida Medical at USD$50/case)?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Priority Questions Matrix: Who to Ask What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0000" y="1400000"/>
            <a:ext cx="2700000" cy="500000"/>
          </a:xfrm>
          <a:prstGeom prst="roundRect">
            <a:avLst/>
          </a:prstGeom>
          <a:solidFill>
            <a:srgbClr val="339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CARPL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0000" y="1920000"/>
            <a:ext cx="2700000" cy="4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339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DICOM routing configuration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Container runtime &amp; GPU specs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Model deployment process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Monitoring &amp; logging capabilities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Storage &amp; retention policies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00000" y="1400000"/>
            <a:ext cx="2700000" cy="500000"/>
          </a:xfrm>
          <a:prstGeom prst="roundRect">
            <a:avLst/>
          </a:prstGeom>
          <a:solidFill>
            <a:srgbClr val="00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Radiology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0000" y="1920000"/>
            <a:ext cx="2700000" cy="4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Workflow integration point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Acceptable latency / SLA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Annotation capture format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Clinical validation protocol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Reader study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0000" y="1400000"/>
            <a:ext cx="2700000" cy="500000"/>
          </a:xfrm>
          <a:prstGeom prst="roundRect">
            <a:avLst/>
          </a:prstGeom>
          <a:solidFill>
            <a:srgbClr val="E07C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Biobot Team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0000" y="1920000"/>
            <a:ext cx="2700000" cy="4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0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RTSTRUCT import requirements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UroFusion compatibility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Mona Lisa data ingestion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Multi-class contour support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End-to-end testing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00000" y="1400000"/>
            <a:ext cx="2700000" cy="5000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20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</a:rPr>
              <a:t>DDS Team (Us)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00000" y="1920000"/>
            <a:ext cx="2700000" cy="4200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Series selection for SGH data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Model retraining schedule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Performance monitoring plan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Failure handling procedures</a:t>
            </a:r>
          </a:p>
          <a:p>
            <a:pPr>
              <a:spcBef>
                <a:spcPts val="1000"/>
              </a:spcBef>
            </a:pPr>
            <a:r>
              <a:rPr sz="1100">
                <a:solidFill>
                  <a:srgbClr val="000000"/>
                </a:solidFill>
              </a:rPr>
              <a:t>• Dataset versioning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ounded Rectangle 38"/>
          <p:cNvSpPr/>
          <p:nvPr/>
        </p:nvSpPr>
        <p:spPr>
          <a:xfrm>
            <a:off x="350000" y="2410000"/>
            <a:ext cx="11200000" cy="1100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07C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0000"/>
            <a:ext cx="11277295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Project Timeline (SGH Innovation Grant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00000"/>
            <a:ext cx="12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4444"/>
                </a:solidFill>
              </a:rPr>
              <a:t>Oct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0" y="1400000"/>
            <a:ext cx="65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IRB Exemption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00000" y="1480000"/>
            <a:ext cx="2400000" cy="36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10000"/>
            <a:ext cx="11000000" cy="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20000"/>
            <a:ext cx="12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4444"/>
                </a:solidFill>
              </a:rPr>
              <a:t>Dec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0000" y="1920000"/>
            <a:ext cx="65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Establish Partnership Agreement (SGH-Biobot)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00000" y="2000000"/>
            <a:ext cx="2400000" cy="3600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30000"/>
            <a:ext cx="11000000" cy="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40000"/>
            <a:ext cx="12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4444"/>
                </a:solidFill>
              </a:rPr>
              <a:t>Jan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0" y="2440000"/>
            <a:ext cx="65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SGH Data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00000" y="2520000"/>
            <a:ext cx="2400000" cy="360000"/>
          </a:xfrm>
          <a:prstGeom prst="roundRect">
            <a:avLst/>
          </a:prstGeom>
          <a:solidFill>
            <a:srgbClr val="E07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50000"/>
            <a:ext cx="11000000" cy="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2960000"/>
            <a:ext cx="12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4444"/>
                </a:solidFill>
              </a:rPr>
              <a:t>Jan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00000" y="2960000"/>
            <a:ext cx="65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Onboard NIH Model to CARPL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00000" y="3040000"/>
            <a:ext cx="2400000" cy="360000"/>
          </a:xfrm>
          <a:prstGeom prst="roundRect">
            <a:avLst/>
          </a:prstGeom>
          <a:solidFill>
            <a:srgbClr val="E07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70000"/>
            <a:ext cx="11000000" cy="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480000"/>
            <a:ext cx="12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4444"/>
                </a:solidFill>
              </a:rPr>
              <a:t>Mar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0000" y="3480000"/>
            <a:ext cx="65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Biobot UroFusion Import Capability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00000" y="3560000"/>
            <a:ext cx="2400000" cy="360000"/>
          </a:xfrm>
          <a:prstGeom prst="roundRect">
            <a:avLst/>
          </a:prstGeom>
          <a:solidFill>
            <a:srgbClr val="33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90000"/>
            <a:ext cx="11000000" cy="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000000"/>
            <a:ext cx="12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4444"/>
                </a:solidFill>
              </a:rPr>
              <a:t>Jun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0000" y="4000000"/>
            <a:ext cx="65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Generate &amp; Refine Contours (Curated Dataset)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00000" y="4080000"/>
            <a:ext cx="2400000" cy="360000"/>
          </a:xfrm>
          <a:prstGeom prst="roundRect">
            <a:avLst/>
          </a:prstGeom>
          <a:solidFill>
            <a:srgbClr val="33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10000"/>
            <a:ext cx="11000000" cy="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520000"/>
            <a:ext cx="12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4444"/>
                </a:solidFill>
              </a:rPr>
              <a:t>Aug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00000" y="4520000"/>
            <a:ext cx="65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Train SGH-Optimised Model on CHROMA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00000" y="4600000"/>
            <a:ext cx="2400000" cy="360000"/>
          </a:xfrm>
          <a:prstGeom prst="roundRect">
            <a:avLst/>
          </a:prstGeom>
          <a:solidFill>
            <a:srgbClr val="33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30000"/>
            <a:ext cx="11000000" cy="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5040000"/>
            <a:ext cx="12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4444"/>
                </a:solidFill>
              </a:rPr>
              <a:t>Aug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00000" y="5040000"/>
            <a:ext cx="65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Onboard SGH Model to CARPL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00000" y="5120000"/>
            <a:ext cx="2400000" cy="360000"/>
          </a:xfrm>
          <a:prstGeom prst="roundRect">
            <a:avLst/>
          </a:prstGeom>
          <a:solidFill>
            <a:srgbClr val="33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50000"/>
            <a:ext cx="11000000" cy="2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5560000"/>
            <a:ext cx="12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200" b="1">
                <a:solidFill>
                  <a:srgbClr val="004444"/>
                </a:solidFill>
              </a:rPr>
              <a:t>Sep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00000" y="5560000"/>
            <a:ext cx="6500000" cy="52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300">
                <a:solidFill>
                  <a:srgbClr val="000000"/>
                </a:solidFill>
              </a:rPr>
              <a:t>Trial Deployment in SGH Radiology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0000" y="5640000"/>
            <a:ext cx="2400000" cy="36000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000"/>
            <a:ext cx="12192000" cy="80000"/>
          </a:xfrm>
          <a:prstGeom prst="rect">
            <a:avLst/>
          </a:prstGeom>
          <a:solidFill>
            <a:srgbClr val="E07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0000" y="2000000"/>
            <a:ext cx="105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36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CCDDDD"/>
                </a:solidFill>
              </a:rPr>
              <a:t>Questions &amp; Discussion</a:t>
            </a:r>
          </a:p>
          <a:p>
            <a:pPr algn="ctr">
              <a:spcBef>
                <a:spcPts val="2000"/>
              </a:spcBef>
            </a:pPr>
            <a:r>
              <a:rPr sz="1400">
                <a:solidFill>
                  <a:srgbClr val="AABBBB"/>
                </a:solidFill>
              </a:rPr>
              <a:t>SGH Department of Data Science &amp; Diagnostic Radiology</a:t>
            </a:r>
          </a:p>
          <a:p>
            <a:pPr algn="ctr"/>
            <a:r>
              <a:rPr sz="1200">
                <a:solidFill>
                  <a:srgbClr val="AABBBB"/>
                </a:solidFill>
              </a:rPr>
              <a:t>MRI PSA Project | SGH Innovation Grant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0000" y="6500000"/>
            <a:ext cx="9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3737</Words>
  <Application>Microsoft Office PowerPoint</Application>
  <PresentationFormat>Widescreen</PresentationFormat>
  <Paragraphs>564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Anson Phua</cp:lastModifiedBy>
  <cp:revision>2</cp:revision>
  <dcterms:created xsi:type="dcterms:W3CDTF">2013-01-27T09:14:16Z</dcterms:created>
  <dcterms:modified xsi:type="dcterms:W3CDTF">2026-02-25T08:30:20Z</dcterms:modified>
  <cp:category/>
</cp:coreProperties>
</file>